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6" r:id="rId4"/>
  </p:sldMasterIdLst>
  <p:notesMasterIdLst>
    <p:notesMasterId r:id="rId10"/>
  </p:notesMasterIdLst>
  <p:handoutMasterIdLst>
    <p:handoutMasterId r:id="rId11"/>
  </p:handoutMasterIdLst>
  <p:sldIdLst>
    <p:sldId id="257" r:id="rId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  <p15:guide id="2" userDrawn="1">
          <p15:clr>
            <a:srgbClr val="A4A3A4"/>
          </p15:clr>
        </p15:guide>
        <p15:guide id="3" orient="horz" pos="43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Qiu, Cheng (IFPRI)" initials="QC(" lastIdx="1" clrIdx="0"/>
  <p:cmAuthor id="2" name="de Brauw, Alan (IFPRI)" initials="dBA(" lastIdx="6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464"/>
    <a:srgbClr val="62BB46"/>
    <a:srgbClr val="439E2E"/>
    <a:srgbClr val="000000"/>
    <a:srgbClr val="89A527"/>
    <a:srgbClr val="EE283B"/>
    <a:srgbClr val="748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327" autoAdjust="0"/>
  </p:normalViewPr>
  <p:slideViewPr>
    <p:cSldViewPr snapToGrid="0">
      <p:cViewPr varScale="1">
        <p:scale>
          <a:sx n="68" d="100"/>
          <a:sy n="68" d="100"/>
        </p:scale>
        <p:origin x="208" y="2032"/>
      </p:cViewPr>
      <p:guideLst>
        <p:guide orient="horz"/>
        <p:guide/>
        <p:guide orient="horz" pos="43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18" d="100"/>
          <a:sy n="118" d="100"/>
        </p:scale>
        <p:origin x="4984" y="22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commentAuthors" Target="commentAuthors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436206-08FA-3F49-A9A2-E39D99F8BF68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009C9F-CDE2-6649-9DC9-F2DCDF47AB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8216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A3BBB4-83BA-4922-A4DB-9F70F816F70F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2AA323-5059-4D56-8340-1C4053A31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06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linked field experiments in Uganda's dairy sector asking a single question: can making quality observable create a market for quality? Spoiler: observability is necessary but not sufficient.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information problem. Quality is a credence/experience attribute at first sale. Crude tests catch only gross adulteration. Pay-per-litre with no composition adjustment means both watering and skimming are profitable. This is the lemons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conceptually distinct impediment: aggregation. Pooling makes reputation a common-pool resource; moral-hazard-in-teams logic means individual effort is not rewarded. Intermediation layers worsen traceability. Two barriers: (i) observability at point of sale, (ii) traceability through aggregation.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Roadmap. The sequential design separates the informational dimension (Exp 1) from the pricing dimension (Exp 2) in the same supply chain. Exp 2 is run on infrastructure built by Exp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scene: a transforming, commercially organised sector where quality genuinely matters for downstream products, but pricing institutions are flat per-litre. Photo: milk analyzer installed at an MCC during piloting.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Cluster RCT at the catchment level because the intervention is at the MCC and farmers within a catchment share MCCs. Three measurement levels including objective supervised milk testing —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components: hardware (analyzer), software (app + portals for owners and DDA), and a farmer-facing information campaign to avoid power imbalance. Note imperfect compliance: analyzers moved, some unused. First stage 0.37, so ITT attenuated; we also report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of Exp 1: quality improves, but selectively — on the margins a farmer/trader can manipulate quickly (water, skimming) rather than on composition that needs feeding changes. Significance stars: **=1%, *=5%.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forest plots: MCC primary outcomes, farmer primary outcomes, farmer prices by season. Testing rises sharply; every price/premium coefficient straddles zero. The quality gain is real but unrewarded — this is the puzzle the model resolves.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formalises why quality can rise with no price response. Two channels. Exp 1 is the enforcement channel operating in isolation: σ² falls, the floor bites, but α stays at zero because processors still buy flat per litre.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CDF is the visual fingerprint of the enforcement channel. The whole treatment effect is in the right tail — the egregious adulterators — exactly what 'making the floor bite' predicts. Clean suppliers don't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to Exp 2. We can't literally raise α at the processor, so we inject the quality-linked transfer one node downstream, paying traders for verified quality. This creates a clean pass-through test: do traders share it with farmers?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isolates the price channel: both arms get information; only treated get money. Daily payments give a panel. The unannounced threshold increase moves the regime from intensive-margin (gradient) to extensive-margin (floor) — the model's key comparative static.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result of the daily panel: a large, immediate volume response sustained across both stages. Consistent with traders working the extensive margin of the bonus when quality is easy — grab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Central finding. The continuous gradient — live the whole time — elicits nothing. Only when the discrete pass/fail floor rises do traders screen for quality. Discrete stakes beat smooth incentives. The ~1-week lag fits costly supplier re-sorting (and possibly loss aversion).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pass-through test fails — and worse, prices to farmers fall. Treated traders screen harder and capture the bonus; farmers see no gain and a price cut. Quality upgrading at the source still has no champion.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thesis: observability necessary, not sufficient. The two experiments together show a low-level equilibrium trap that single-margin interventions can't escape. Two design lessons: thresholds &gt; gradients for intermediaries; and pass-through to farmers must be engineered, not assumed.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FPRI Title 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BCF8A2-83B5-D242-8DE9-5BF0DBC72068}"/>
              </a:ext>
            </a:extLst>
          </p:cNvPr>
          <p:cNvSpPr txBox="1"/>
          <p:nvPr userDrawn="1"/>
        </p:nvSpPr>
        <p:spPr>
          <a:xfrm>
            <a:off x="2610196" y="1130531"/>
            <a:ext cx="7680960" cy="1296785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pPr algn="r"/>
            <a:endParaRPr lang="en-US" sz="4400" dirty="0">
              <a:solidFill>
                <a:srgbClr val="62BB46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67E0C6F-B733-5747-90B2-814ABEB6C43C}"/>
              </a:ext>
            </a:extLst>
          </p:cNvPr>
          <p:cNvGrpSpPr/>
          <p:nvPr userDrawn="1"/>
        </p:nvGrpSpPr>
        <p:grpSpPr>
          <a:xfrm>
            <a:off x="0" y="0"/>
            <a:ext cx="2197100" cy="6858000"/>
            <a:chOff x="0" y="0"/>
            <a:chExt cx="2197100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C96FFE6-CDD2-EA44-904E-95A88CE55A5C}"/>
                </a:ext>
              </a:extLst>
            </p:cNvPr>
            <p:cNvSpPr/>
            <p:nvPr userDrawn="1"/>
          </p:nvSpPr>
          <p:spPr>
            <a:xfrm>
              <a:off x="0" y="0"/>
              <a:ext cx="2197100" cy="6858000"/>
            </a:xfrm>
            <a:prstGeom prst="rect">
              <a:avLst/>
            </a:prstGeom>
            <a:solidFill>
              <a:srgbClr val="62BB46"/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6C8A868-54A1-1F4D-890F-1DB57E486CB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biLevel thresh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1347" y="1030684"/>
              <a:ext cx="914403" cy="1676403"/>
            </a:xfrm>
            <a:prstGeom prst="rect">
              <a:avLst/>
            </a:prstGeom>
            <a:noFill/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557D581-39D9-7D4D-ABAD-04664933497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0994" y="3861031"/>
              <a:ext cx="1575108" cy="18430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32658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7B30FCE-C57F-864D-9F8B-61112FA53D73}"/>
              </a:ext>
            </a:extLst>
          </p:cNvPr>
          <p:cNvGrpSpPr/>
          <p:nvPr userDrawn="1"/>
        </p:nvGrpSpPr>
        <p:grpSpPr>
          <a:xfrm>
            <a:off x="225934" y="359229"/>
            <a:ext cx="516825" cy="6255256"/>
            <a:chOff x="225934" y="359229"/>
            <a:chExt cx="516825" cy="625525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858EC42-111F-C242-9D7F-62677F57F606}"/>
                </a:ext>
              </a:extLst>
            </p:cNvPr>
            <p:cNvSpPr/>
            <p:nvPr userDrawn="1"/>
          </p:nvSpPr>
          <p:spPr>
            <a:xfrm>
              <a:off x="340109" y="359229"/>
              <a:ext cx="288477" cy="4757058"/>
            </a:xfrm>
            <a:prstGeom prst="rect">
              <a:avLst/>
            </a:prstGeom>
            <a:gradFill>
              <a:gsLst>
                <a:gs pos="0">
                  <a:srgbClr val="62BB46">
                    <a:alpha val="0"/>
                  </a:srgbClr>
                </a:gs>
                <a:gs pos="100000">
                  <a:srgbClr val="62BB46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rgbClr val="62BB46"/>
                </a:solidFill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731CAB8-8D9C-9746-8FB8-E07D7206C5F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7473" y="5301212"/>
              <a:ext cx="301111" cy="545255"/>
            </a:xfrm>
            <a:prstGeom prst="rect">
              <a:avLst/>
            </a:prstGeom>
          </p:spPr>
        </p:pic>
        <p:pic>
          <p:nvPicPr>
            <p:cNvPr id="7" name="Content Placeholder 4">
              <a:extLst>
                <a:ext uri="{FF2B5EF4-FFF2-40B4-BE49-F238E27FC236}">
                  <a16:creationId xmlns:a16="http://schemas.microsoft.com/office/drawing/2014/main" id="{463CC67C-2C70-2749-8521-C7F387B08B9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5934" y="6009752"/>
              <a:ext cx="516825" cy="6047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43439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685800" indent="-228600">
              <a:buFont typeface="Courier New" charset="0"/>
              <a:buChar char="o"/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F5B353E-05E7-BB41-A233-A8F667392D93}"/>
              </a:ext>
            </a:extLst>
          </p:cNvPr>
          <p:cNvGrpSpPr/>
          <p:nvPr userDrawn="1"/>
        </p:nvGrpSpPr>
        <p:grpSpPr>
          <a:xfrm>
            <a:off x="225934" y="359229"/>
            <a:ext cx="516825" cy="6255256"/>
            <a:chOff x="225934" y="359229"/>
            <a:chExt cx="516825" cy="625525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0D0EA63-D94D-D84B-BD71-055297A12DA4}"/>
                </a:ext>
              </a:extLst>
            </p:cNvPr>
            <p:cNvSpPr/>
            <p:nvPr userDrawn="1"/>
          </p:nvSpPr>
          <p:spPr>
            <a:xfrm>
              <a:off x="340109" y="359229"/>
              <a:ext cx="288477" cy="4757058"/>
            </a:xfrm>
            <a:prstGeom prst="rect">
              <a:avLst/>
            </a:prstGeom>
            <a:gradFill>
              <a:gsLst>
                <a:gs pos="0">
                  <a:srgbClr val="62BB46">
                    <a:alpha val="0"/>
                  </a:srgbClr>
                </a:gs>
                <a:gs pos="100000">
                  <a:srgbClr val="62BB46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rgbClr val="62BB46"/>
                </a:solidFill>
              </a:endParaRP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913C6BF-C96A-0C48-9C13-0180D5B1A6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7473" y="5301212"/>
              <a:ext cx="301111" cy="545255"/>
            </a:xfrm>
            <a:prstGeom prst="rect">
              <a:avLst/>
            </a:prstGeom>
          </p:spPr>
        </p:pic>
        <p:pic>
          <p:nvPicPr>
            <p:cNvPr id="11" name="Content Placeholder 4">
              <a:extLst>
                <a:ext uri="{FF2B5EF4-FFF2-40B4-BE49-F238E27FC236}">
                  <a16:creationId xmlns:a16="http://schemas.microsoft.com/office/drawing/2014/main" id="{31046BCC-8A13-5842-A532-BD1C907744B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5934" y="6009752"/>
              <a:ext cx="516825" cy="6047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15173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Content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solidFill>
                  <a:srgbClr val="435464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3C1BA00-7420-7446-B1FD-E83EC9A516F4}"/>
              </a:ext>
            </a:extLst>
          </p:cNvPr>
          <p:cNvGrpSpPr/>
          <p:nvPr userDrawn="1"/>
        </p:nvGrpSpPr>
        <p:grpSpPr>
          <a:xfrm>
            <a:off x="225934" y="359229"/>
            <a:ext cx="516825" cy="6255256"/>
            <a:chOff x="225934" y="359229"/>
            <a:chExt cx="516825" cy="625525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B0CCF8-A656-5443-B1C2-DEEB1D7E8319}"/>
                </a:ext>
              </a:extLst>
            </p:cNvPr>
            <p:cNvSpPr/>
            <p:nvPr userDrawn="1"/>
          </p:nvSpPr>
          <p:spPr>
            <a:xfrm>
              <a:off x="340109" y="359229"/>
              <a:ext cx="288477" cy="4757058"/>
            </a:xfrm>
            <a:prstGeom prst="rect">
              <a:avLst/>
            </a:prstGeom>
            <a:gradFill>
              <a:gsLst>
                <a:gs pos="0">
                  <a:srgbClr val="62BB46">
                    <a:alpha val="0"/>
                  </a:srgbClr>
                </a:gs>
                <a:gs pos="100000">
                  <a:srgbClr val="62BB46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rgbClr val="62BB46"/>
                </a:solidFill>
              </a:endParaRP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D389429-4700-CB46-AA07-6FCC7F6CCD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7473" y="5301212"/>
              <a:ext cx="301111" cy="545255"/>
            </a:xfrm>
            <a:prstGeom prst="rect">
              <a:avLst/>
            </a:prstGeom>
          </p:spPr>
        </p:pic>
        <p:pic>
          <p:nvPicPr>
            <p:cNvPr id="11" name="Content Placeholder 4">
              <a:extLst>
                <a:ext uri="{FF2B5EF4-FFF2-40B4-BE49-F238E27FC236}">
                  <a16:creationId xmlns:a16="http://schemas.microsoft.com/office/drawing/2014/main" id="{942779AE-C0D0-144C-BB05-ABD37ECE256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5934" y="6009752"/>
              <a:ext cx="516825" cy="6047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76659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Alt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0976BEA-EB80-CA4A-BAC1-01D853A25694}"/>
              </a:ext>
            </a:extLst>
          </p:cNvPr>
          <p:cNvGrpSpPr/>
          <p:nvPr userDrawn="1"/>
        </p:nvGrpSpPr>
        <p:grpSpPr>
          <a:xfrm>
            <a:off x="225934" y="359229"/>
            <a:ext cx="516825" cy="6255256"/>
            <a:chOff x="225934" y="359229"/>
            <a:chExt cx="516825" cy="625525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2BCB0E9-0C65-5E45-810A-DF7767486EE4}"/>
                </a:ext>
              </a:extLst>
            </p:cNvPr>
            <p:cNvSpPr/>
            <p:nvPr userDrawn="1"/>
          </p:nvSpPr>
          <p:spPr>
            <a:xfrm>
              <a:off x="340109" y="359229"/>
              <a:ext cx="288477" cy="4757058"/>
            </a:xfrm>
            <a:prstGeom prst="rect">
              <a:avLst/>
            </a:prstGeom>
            <a:gradFill>
              <a:gsLst>
                <a:gs pos="0">
                  <a:srgbClr val="62BB46">
                    <a:alpha val="0"/>
                  </a:srgbClr>
                </a:gs>
                <a:gs pos="100000">
                  <a:srgbClr val="62BB46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rgbClr val="62BB46"/>
                </a:solidFill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EF808B-BB53-CC4F-820F-77D5406BB7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7473" y="5301212"/>
              <a:ext cx="301111" cy="545255"/>
            </a:xfrm>
            <a:prstGeom prst="rect">
              <a:avLst/>
            </a:prstGeom>
          </p:spPr>
        </p:pic>
        <p:pic>
          <p:nvPicPr>
            <p:cNvPr id="9" name="Content Placeholder 4">
              <a:extLst>
                <a:ext uri="{FF2B5EF4-FFF2-40B4-BE49-F238E27FC236}">
                  <a16:creationId xmlns:a16="http://schemas.microsoft.com/office/drawing/2014/main" id="{4F708FC0-D8AC-E64B-9825-1AAB82F9277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5934" y="6009752"/>
              <a:ext cx="516825" cy="6047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69021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4A5AFE-9A4C-9443-92D6-A4D7FDF824DC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4C31E-DA4C-F44D-B44A-157C5C055E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195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42" r:id="rId2"/>
    <p:sldLayoutId id="2147483718" r:id="rId3"/>
    <p:sldLayoutId id="2147483723" r:id="rId4"/>
    <p:sldLayoutId id="214748374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rgbClr val="435464"/>
          </a:solidFill>
          <a:latin typeface="Arial" charset="0"/>
          <a:ea typeface="Arial" charset="0"/>
          <a:cs typeface="Arial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charset="2"/>
        <a:buChar char="§"/>
        <a:defRPr sz="2400" b="0" i="0" kern="1200">
          <a:solidFill>
            <a:srgbClr val="435464"/>
          </a:solidFill>
          <a:latin typeface="Arial" charset="0"/>
          <a:ea typeface="Arial" charset="0"/>
          <a:cs typeface="Arial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charset="0"/>
        <a:buChar char="o"/>
        <a:defRPr sz="2400" b="0" i="0" kern="1200">
          <a:solidFill>
            <a:srgbClr val="435464"/>
          </a:solidFill>
          <a:latin typeface="Arial" charset="0"/>
          <a:ea typeface="Arial" charset="0"/>
          <a:cs typeface="Arial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charset="0"/>
        <a:buChar char="o"/>
        <a:defRPr sz="2400" b="0" i="0" kern="1200">
          <a:solidFill>
            <a:srgbClr val="435464"/>
          </a:solidFill>
          <a:latin typeface="Arial" charset="0"/>
          <a:ea typeface="Arial" charset="0"/>
          <a:cs typeface="Arial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charset="0"/>
        <a:buChar char="o"/>
        <a:defRPr sz="2400" b="0" i="0" kern="1200">
          <a:solidFill>
            <a:srgbClr val="435464"/>
          </a:solidFill>
          <a:latin typeface="Arial" charset="0"/>
          <a:ea typeface="Arial" charset="0"/>
          <a:cs typeface="Arial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charset="0"/>
        <a:buChar char="o"/>
        <a:defRPr sz="2400" b="0" i="0" kern="1200">
          <a:solidFill>
            <a:srgbClr val="435464"/>
          </a:solidFill>
          <a:latin typeface="Arial" charset="0"/>
          <a:ea typeface="Arial" charset="0"/>
          <a:cs typeface="Arial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1751EB40-729A-B942-AD35-C3A104DF499C}"/>
              </a:ext>
            </a:extLst>
          </p:cNvPr>
          <p:cNvGrpSpPr/>
          <p:nvPr/>
        </p:nvGrpSpPr>
        <p:grpSpPr>
          <a:xfrm>
            <a:off x="2617714" y="940526"/>
            <a:ext cx="9065623" cy="5451566"/>
            <a:chOff x="2617714" y="940526"/>
            <a:chExt cx="9065623" cy="545156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AB71EBD-7A01-2B49-BB17-FC778A67CD9E}"/>
                </a:ext>
              </a:extLst>
            </p:cNvPr>
            <p:cNvSpPr txBox="1"/>
            <p:nvPr/>
          </p:nvSpPr>
          <p:spPr>
            <a:xfrm>
              <a:off x="2617714" y="940526"/>
              <a:ext cx="9065623" cy="1358537"/>
            </a:xfrm>
            <a:prstGeom prst="rect">
              <a:avLst/>
            </a:prstGeom>
          </p:spPr>
          <p:txBody>
            <a:bodyPr wrap="square" rtlCol="0">
              <a:noAutofit/>
            </a:bodyPr>
            <a:lstStyle/>
            <a:p>
              <a:r>
                <a:rPr lang="en-US" sz="4400" b="1" dirty="0">
                  <a:solidFill>
                    <a:srgbClr val="62BB46"/>
                  </a:solidFill>
                </a:rPr>
                <a:t>TITLE GOES HERE</a:t>
              </a:r>
            </a:p>
            <a:p>
              <a:r>
                <a:rPr lang="en-US" sz="4400" b="1" dirty="0">
                  <a:solidFill>
                    <a:srgbClr val="62BB46"/>
                  </a:solidFill>
                </a:rPr>
                <a:t>CAN RUN TWO LINES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2E0B415-AFAD-5148-97E1-B7E8399E159A}"/>
                </a:ext>
              </a:extLst>
            </p:cNvPr>
            <p:cNvSpPr txBox="1"/>
            <p:nvPr/>
          </p:nvSpPr>
          <p:spPr>
            <a:xfrm>
              <a:off x="2617714" y="2682240"/>
              <a:ext cx="9065623" cy="531223"/>
            </a:xfrm>
            <a:prstGeom prst="rect">
              <a:avLst/>
            </a:prstGeom>
          </p:spPr>
          <p:txBody>
            <a:bodyPr wrap="square" rtlCol="0">
              <a:noAutofit/>
            </a:bodyPr>
            <a:lstStyle/>
            <a:p>
              <a:r>
                <a:rPr lang="en-US" sz="2800" dirty="0">
                  <a:solidFill>
                    <a:srgbClr val="435464"/>
                  </a:solidFill>
                </a:rPr>
                <a:t>Sub-title goes here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029D2D6-44E3-9944-8FD9-B7AF54BC6BAB}"/>
                </a:ext>
              </a:extLst>
            </p:cNvPr>
            <p:cNvSpPr txBox="1"/>
            <p:nvPr/>
          </p:nvSpPr>
          <p:spPr>
            <a:xfrm>
              <a:off x="2617714" y="3907972"/>
              <a:ext cx="7716883" cy="2484120"/>
            </a:xfrm>
            <a:prstGeom prst="rect">
              <a:avLst/>
            </a:prstGeom>
          </p:spPr>
          <p:txBody>
            <a:bodyPr wrap="square" rtlCol="0">
              <a:noAutofit/>
            </a:bodyPr>
            <a:lstStyle/>
            <a:p>
              <a:r>
                <a:rPr lang="en-US" sz="2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Name</a:t>
              </a:r>
              <a:br>
                <a:rPr lang="en-US" sz="2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</a:br>
              <a:r>
                <a:rPr lang="en-US" sz="2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Department/Division</a:t>
              </a:r>
              <a:br>
                <a:rPr lang="en-US" sz="2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</a:br>
              <a:r>
                <a:rPr lang="en-US" sz="2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Institution</a:t>
              </a:r>
              <a:br>
                <a:rPr lang="en-US" sz="2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</a:br>
              <a:br>
                <a:rPr lang="en-US" sz="2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</a:br>
              <a:br>
                <a:rPr lang="en-US" sz="2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</a:br>
              <a:r>
                <a:rPr lang="en-US" sz="24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Location | Date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9143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74EBD1-F224-4644-B5AA-0ABD0BD53E57}"/>
              </a:ext>
            </a:extLst>
          </p:cNvPr>
          <p:cNvSpPr txBox="1"/>
          <p:nvPr/>
        </p:nvSpPr>
        <p:spPr>
          <a:xfrm>
            <a:off x="1200693" y="766355"/>
            <a:ext cx="9065623" cy="1358537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r>
              <a:rPr lang="en-US" sz="4400" b="1" dirty="0">
                <a:solidFill>
                  <a:srgbClr val="62BB46"/>
                </a:solidFill>
              </a:rPr>
              <a:t>When Quality (doesn’t) Pay</a:t>
            </a:r>
          </a:p>
          <a:p>
            <a:r>
              <a:rPr lang="en-US" sz="4400" b="1" dirty="0">
                <a:solidFill>
                  <a:srgbClr val="62BB46"/>
                </a:solidFill>
              </a:rPr>
              <a:t>Two Experiments in Ugandan Dairy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DE77C9-E987-3C45-B309-33FB046EBDE8}"/>
              </a:ext>
            </a:extLst>
          </p:cNvPr>
          <p:cNvSpPr txBox="1"/>
          <p:nvPr/>
        </p:nvSpPr>
        <p:spPr>
          <a:xfrm>
            <a:off x="1200693" y="2508069"/>
            <a:ext cx="9065623" cy="531223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r>
              <a:rPr lang="en-US" sz="2800" dirty="0">
                <a:solidFill>
                  <a:srgbClr val="435464"/>
                </a:solidFill>
              </a:rPr>
              <a:t>Technology, transparency, and the emergence of markets for quality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B4E762-62F8-5D49-A197-DD7E37D8404B}"/>
              </a:ext>
            </a:extLst>
          </p:cNvPr>
          <p:cNvSpPr txBox="1"/>
          <p:nvPr/>
        </p:nvSpPr>
        <p:spPr>
          <a:xfrm>
            <a:off x="1200693" y="3733801"/>
            <a:ext cx="7716883" cy="2484120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Bjorn Van Campenhout</a:t>
            </a:r>
            <a:b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with R. Ariong, S. W. Kariuki &amp; J. Chamberlin</a:t>
            </a:r>
            <a:b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IFPRI  |  KU Leuven</a:t>
            </a:r>
            <a:b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b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b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sz="2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NOVAFRICA Conference  |  19 June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114312-186B-474E-8618-6BD644D7D348}"/>
              </a:ext>
            </a:extLst>
          </p:cNvPr>
          <p:cNvSpPr txBox="1"/>
          <p:nvPr/>
        </p:nvSpPr>
        <p:spPr>
          <a:xfrm>
            <a:off x="8917576" y="529416"/>
            <a:ext cx="28152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i="1" dirty="0"/>
              <a:t>Insert partner logos in this space</a:t>
            </a:r>
          </a:p>
        </p:txBody>
      </p:sp>
    </p:spTree>
    <p:extLst>
      <p:ext uri="{BB962C8B-B14F-4D97-AF65-F5344CB8AC3E}">
        <p14:creationId xmlns:p14="http://schemas.microsoft.com/office/powerpoint/2010/main" val="2678100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BD8AE-81B7-D44F-AE30-4DF50F5EB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E1E66-00B1-024A-88B9-1D3DA64B7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717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0E987-34AB-8740-B682-6A0D7E864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62D00-97BE-B34E-845A-03C41E97458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5DAA77-CE1A-3A41-9586-ED852977A58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776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80103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The problem (1): quality you cannot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67665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buNone/>
            </a:pPr>
            <a:r>
              <a:rPr sz="2100" b="1" i="0">
                <a:solidFill>
                  <a:srgbClr val="44546A"/>
                </a:solidFill>
                <a:latin typeface="Arial"/>
              </a:rPr>
              <a:t>Milk quality (butterfat, solids-not-fat, added water) is costly to verify at the point of sale.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MCCs rely on crude tools: </a:t>
            </a:r>
            <a:r>
              <a:rPr sz="1800" b="1" i="0">
                <a:solidFill>
                  <a:srgbClr val="007DB3"/>
                </a:solidFill>
                <a:latin typeface="Arial"/>
              </a:rPr>
              <a:t>lactometer + alcohol test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— detect gross adulteration, not composition.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High- and low-quality milk therefore trade at the </a:t>
            </a:r>
            <a:r>
              <a:rPr sz="1800" b="1" i="0">
                <a:solidFill>
                  <a:srgbClr val="EF463B"/>
                </a:solidFill>
                <a:latin typeface="Arial"/>
              </a:rPr>
              <a:t>same per-litre price</a:t>
            </a:r>
            <a:r>
              <a:rPr sz="1800" b="0" i="0">
                <a:solidFill>
                  <a:srgbClr val="2A2A2A"/>
                </a:solidFill>
                <a:latin typeface="Arial"/>
              </a:rPr>
              <a:t>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Classic </a:t>
            </a:r>
            <a:r>
              <a:rPr sz="1800" b="1" i="0">
                <a:solidFill>
                  <a:srgbClr val="8850A0"/>
                </a:solidFill>
                <a:latin typeface="Arial"/>
              </a:rPr>
              <a:t>asymmetric information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(Akerlof 1970): no credible signal → no reward for quality → quality erodes.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Both adulteration margins pay: </a:t>
            </a:r>
            <a:r>
              <a:rPr sz="1800" b="1" i="0">
                <a:solidFill>
                  <a:srgbClr val="EF463B"/>
                </a:solidFill>
                <a:latin typeface="Arial"/>
              </a:rPr>
              <a:t>watering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inflates volume; </a:t>
            </a:r>
            <a:r>
              <a:rPr sz="1800" b="1" i="0">
                <a:solidFill>
                  <a:srgbClr val="EF463B"/>
                </a:solidFill>
                <a:latin typeface="Arial"/>
              </a:rPr>
              <a:t>skimming fat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extracts the most valuable component.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1920240"/>
            <a:ext cx="3840480" cy="2926080"/>
          </a:xfrm>
          <a:prstGeom prst="roundRect">
            <a:avLst/>
          </a:prstGeom>
          <a:solidFill>
            <a:srgbClr val="F3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/>
          <a:lstStyle/>
          <a:p>
            <a:pPr algn="ctr">
              <a:spcAft>
                <a:spcPts val="1000"/>
              </a:spcAft>
              <a:buNone/>
            </a:pPr>
            <a:r>
              <a:rPr sz="2000" b="1" i="1">
                <a:solidFill>
                  <a:srgbClr val="44546A"/>
                </a:solidFill>
                <a:latin typeface="Arial"/>
              </a:rPr>
              <a:t>“Without verification, the market cannot tell good milk from bad.”</a:t>
            </a:r>
          </a:p>
          <a:p>
            <a:pPr algn="ctr">
              <a:spcAft>
                <a:spcPts val="800"/>
              </a:spcAft>
              <a:buNone/>
            </a:pPr>
            <a:r>
              <a:rPr sz="1400" b="0" i="0">
                <a:solidFill>
                  <a:srgbClr val="6E6E6E"/>
                </a:solidFill>
                <a:latin typeface="Arial"/>
              </a:rPr>
              <a:t>5–10% of milk samples in the region show water addition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The problem (2): aggregation severs the 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67665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buNone/>
            </a:pPr>
            <a:r>
              <a:rPr sz="2100" b="1" i="0">
                <a:solidFill>
                  <a:srgbClr val="44546A"/>
                </a:solidFill>
                <a:latin typeface="Arial"/>
              </a:rPr>
              <a:t>Milk is pooled across many farmers early in the chain.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Buyers observe only a </a:t>
            </a:r>
            <a:r>
              <a:rPr sz="1800" b="1" i="0">
                <a:solidFill>
                  <a:srgbClr val="00AE9A"/>
                </a:solidFill>
                <a:latin typeface="Arial"/>
              </a:rPr>
              <a:t>group-level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quality signal; individual contributions vanish into the pool.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Shared reputation = a </a:t>
            </a:r>
            <a:r>
              <a:rPr sz="1800" b="1" i="0">
                <a:solidFill>
                  <a:srgbClr val="8850A0"/>
                </a:solidFill>
                <a:latin typeface="Arial"/>
              </a:rPr>
              <a:t>common-pool resource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(Winfree &amp; McCluskey 2005; Tirole 1996).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Moral hazard in teams: each farmer can </a:t>
            </a:r>
            <a:r>
              <a:rPr sz="1800" b="1" i="0">
                <a:solidFill>
                  <a:srgbClr val="EF463B"/>
                </a:solidFill>
                <a:latin typeface="Arial"/>
              </a:rPr>
              <a:t>free-ride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on the pool — no one internalises the return to their own effort.</a:t>
            </a:r>
          </a:p>
          <a:p>
            <a:pPr algn="l" marL="274320" indent="-274320">
              <a:spcAft>
                <a:spcPts val="14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Layers of traders make </a:t>
            </a:r>
            <a:r>
              <a:rPr sz="1800" b="1" i="0">
                <a:solidFill>
                  <a:srgbClr val="007DB3"/>
                </a:solidFill>
                <a:latin typeface="Arial"/>
              </a:rPr>
              <a:t>traceability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break down even faster.</a:t>
            </a:r>
          </a:p>
          <a:p>
            <a:pPr algn="l">
              <a:spcAft>
                <a:spcPts val="0"/>
              </a:spcAft>
              <a:buNone/>
            </a:pPr>
            <a:r>
              <a:rPr sz="1900" b="1" i="0">
                <a:solidFill>
                  <a:srgbClr val="44546A"/>
                </a:solidFill>
                <a:latin typeface="Arial"/>
              </a:rPr>
              <a:t>⇒  Even if buyers </a:t>
            </a:r>
            <a:r>
              <a:rPr sz="1900" b="1" i="0">
                <a:solidFill>
                  <a:srgbClr val="44546A"/>
                </a:solidFill>
                <a:latin typeface="Arial"/>
              </a:rPr>
              <a:t>want</a:t>
            </a:r>
            <a:r>
              <a:rPr sz="1900" b="1" i="0">
                <a:solidFill>
                  <a:srgbClr val="44546A"/>
                </a:solidFill>
                <a:latin typeface="Arial"/>
              </a:rPr>
              <a:t> to pay for quality, the structure prevents it. </a:t>
            </a:r>
            <a:r>
              <a:rPr sz="1900" b="1" i="0">
                <a:solidFill>
                  <a:srgbClr val="EF463B"/>
                </a:solidFill>
                <a:latin typeface="Arial"/>
              </a:rPr>
              <a:t>No market for quality emerges.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63840" y="1828800"/>
            <a:ext cx="3749039" cy="3291840"/>
          </a:xfrm>
          <a:prstGeom prst="roundRect">
            <a:avLst/>
          </a:prstGeom>
          <a:solidFill>
            <a:srgbClr val="F3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>
              <a:spcAft>
                <a:spcPts val="1200"/>
              </a:spcAft>
              <a:buNone/>
            </a:pPr>
            <a:r>
              <a:rPr sz="1500" b="1" i="0">
                <a:solidFill>
                  <a:srgbClr val="44546A"/>
                </a:solidFill>
                <a:latin typeface="Arial"/>
              </a:rPr>
              <a:t>Farmers  →  Trader  →  MCC (pool)  →  Processor</a:t>
            </a:r>
          </a:p>
          <a:p>
            <a:pPr algn="ctr">
              <a:spcAft>
                <a:spcPts val="1200"/>
              </a:spcAft>
              <a:buNone/>
            </a:pPr>
            <a:r>
              <a:rPr sz="1300" b="0" i="0">
                <a:solidFill>
                  <a:srgbClr val="6E6E6E"/>
                </a:solidFill>
                <a:latin typeface="Arial"/>
              </a:rPr>
              <a:t>individual quality
observed with noise</a:t>
            </a:r>
          </a:p>
          <a:p>
            <a:pPr algn="ctr">
              <a:spcAft>
                <a:spcPts val="0"/>
              </a:spcAft>
              <a:buNone/>
            </a:pPr>
            <a:r>
              <a:rPr sz="1300" b="0" i="0">
                <a:solidFill>
                  <a:srgbClr val="6E6E6E"/>
                </a:solidFill>
                <a:latin typeface="Arial"/>
              </a:rPr>
              <a:t>pooled &amp; paid one
flat price per litre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This paper: two linked field 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200" b="1" i="0">
                <a:solidFill>
                  <a:srgbClr val="44546A"/>
                </a:solidFill>
                <a:latin typeface="Arial"/>
              </a:rPr>
              <a:t>Can making quality </a:t>
            </a:r>
            <a:r>
              <a:rPr sz="2200" b="1" i="0">
                <a:solidFill>
                  <a:srgbClr val="00AE9A"/>
                </a:solidFill>
                <a:latin typeface="Arial"/>
              </a:rPr>
              <a:t>observable and traceable</a:t>
            </a:r>
            <a:r>
              <a:rPr sz="2200" b="1" i="0">
                <a:solidFill>
                  <a:srgbClr val="44546A"/>
                </a:solidFill>
                <a:latin typeface="Arial"/>
              </a:rPr>
              <a:t> create a market for quality?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5212080" cy="3291840"/>
          </a:xfrm>
          <a:prstGeom prst="roundRect">
            <a:avLst/>
          </a:prstGeom>
          <a:solidFill>
            <a:srgbClr val="ECF5E9"/>
          </a:solidFill>
          <a:ln w="12700">
            <a:solidFill>
              <a:srgbClr val="62B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/>
          <a:lstStyle/>
          <a:p>
            <a:pPr algn="l">
              <a:spcAft>
                <a:spcPts val="400"/>
              </a:spcAft>
              <a:buNone/>
            </a:pPr>
            <a:r>
              <a:rPr sz="2000" b="1" i="0">
                <a:solidFill>
                  <a:srgbClr val="62BA45"/>
                </a:solidFill>
                <a:latin typeface="Arial"/>
              </a:rPr>
              <a:t>Experiment 1</a:t>
            </a:r>
          </a:p>
          <a:p>
            <a:pPr algn="l">
              <a:spcAft>
                <a:spcPts val="1000"/>
              </a:spcAft>
              <a:buNone/>
            </a:pPr>
            <a:r>
              <a:rPr sz="1600" b="1" i="0">
                <a:solidFill>
                  <a:srgbClr val="44546A"/>
                </a:solidFill>
                <a:latin typeface="Arial"/>
              </a:rPr>
              <a:t>Measurement &amp; digital monitoring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A2A2A"/>
                </a:solidFill>
                <a:latin typeface="Arial"/>
              </a:rPr>
              <a:t>Cluster-RCT, 95 catchments. Install milk analyzers + record-keeping app at MCCs.</a:t>
            </a:r>
          </a:p>
          <a:p>
            <a:pPr algn="l" marL="274320" indent="-274320">
              <a:spcAft>
                <a:spcPts val="0"/>
              </a:spcAft>
              <a:buFont typeface="Arial"/>
              <a:buChar char="•"/>
            </a:pPr>
            <a:r>
              <a:rPr sz="1500" b="0" i="0">
                <a:solidFill>
                  <a:srgbClr val="2A2A2A"/>
                </a:solidFill>
                <a:latin typeface="Arial"/>
              </a:rPr>
              <a:t>Tests the </a:t>
            </a:r>
            <a:r>
              <a:rPr sz="1500" b="1" i="0">
                <a:solidFill>
                  <a:srgbClr val="62BA45"/>
                </a:solidFill>
                <a:latin typeface="Arial"/>
              </a:rPr>
              <a:t>information / enforcement</a:t>
            </a:r>
            <a:r>
              <a:rPr sz="1500" b="0" i="0">
                <a:solidFill>
                  <a:srgbClr val="2A2A2A"/>
                </a:solidFill>
                <a:latin typeface="Arial"/>
              </a:rPr>
              <a:t> margin.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468880"/>
            <a:ext cx="5212080" cy="3291840"/>
          </a:xfrm>
          <a:prstGeom prst="roundRect">
            <a:avLst/>
          </a:prstGeom>
          <a:solidFill>
            <a:srgbClr val="FDF0E4"/>
          </a:solidFill>
          <a:ln w="12700">
            <a:solidFill>
              <a:srgbClr val="F79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/>
          <a:lstStyle/>
          <a:p>
            <a:pPr algn="l">
              <a:spcAft>
                <a:spcPts val="400"/>
              </a:spcAft>
              <a:buNone/>
            </a:pPr>
            <a:r>
              <a:rPr sz="2000" b="1" i="0">
                <a:solidFill>
                  <a:srgbClr val="F7921E"/>
                </a:solidFill>
                <a:latin typeface="Arial"/>
              </a:rPr>
              <a:t>Experiment 2</a:t>
            </a:r>
          </a:p>
          <a:p>
            <a:pPr algn="l">
              <a:spcAft>
                <a:spcPts val="1000"/>
              </a:spcAft>
              <a:buNone/>
            </a:pPr>
            <a:r>
              <a:rPr sz="1600" b="1" i="0">
                <a:solidFill>
                  <a:srgbClr val="44546A"/>
                </a:solidFill>
                <a:latin typeface="Arial"/>
              </a:rPr>
              <a:t>Activating the price channel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A2A2A"/>
                </a:solidFill>
                <a:latin typeface="Arial"/>
              </a:rPr>
              <a:t>Within-MCC RCT, ~100 traders. Pay traders an explicit quality premium.</a:t>
            </a:r>
          </a:p>
          <a:p>
            <a:pPr algn="l" marL="274320" indent="-274320">
              <a:spcAft>
                <a:spcPts val="0"/>
              </a:spcAft>
              <a:buFont typeface="Arial"/>
              <a:buChar char="•"/>
            </a:pPr>
            <a:r>
              <a:rPr sz="1500" b="0" i="0">
                <a:solidFill>
                  <a:srgbClr val="2A2A2A"/>
                </a:solidFill>
                <a:latin typeface="Arial"/>
              </a:rPr>
              <a:t>Tests the </a:t>
            </a:r>
            <a:r>
              <a:rPr sz="1500" b="1" i="0">
                <a:solidFill>
                  <a:srgbClr val="F7921E"/>
                </a:solidFill>
                <a:latin typeface="Arial"/>
              </a:rPr>
              <a:t>price / pass-through</a:t>
            </a:r>
            <a:r>
              <a:rPr sz="1500" b="0" i="0">
                <a:solidFill>
                  <a:srgbClr val="2A2A2A"/>
                </a:solidFill>
                <a:latin typeface="Arial"/>
              </a:rPr>
              <a:t> margin.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Context: Uganda’s dairy 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66928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sz="1900" b="1" i="0">
                <a:solidFill>
                  <a:srgbClr val="44546A"/>
                </a:solidFill>
                <a:latin typeface="Arial"/>
              </a:rPr>
              <a:t>Southwestern milk shed (Mbarara)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Most commercialised livestock sub-sector: </a:t>
            </a:r>
            <a:r>
              <a:rPr sz="1700" b="1" i="0">
                <a:solidFill>
                  <a:srgbClr val="007DB3"/>
                </a:solidFill>
                <a:latin typeface="Arial"/>
              </a:rPr>
              <a:t>17% of agricultural GDP</a:t>
            </a:r>
            <a:r>
              <a:rPr sz="1700" b="0" i="0">
                <a:solidFill>
                  <a:srgbClr val="2A2A2A"/>
                </a:solidFill>
                <a:latin typeface="Arial"/>
              </a:rPr>
              <a:t>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Output </a:t>
            </a:r>
            <a:r>
              <a:rPr sz="1700" b="1" i="0">
                <a:solidFill>
                  <a:srgbClr val="62BA45"/>
                </a:solidFill>
                <a:latin typeface="Arial"/>
              </a:rPr>
              <a:t>5× since 2008</a:t>
            </a:r>
            <a:r>
              <a:rPr sz="1700" b="0" i="0">
                <a:solidFill>
                  <a:srgbClr val="2A2A2A"/>
                </a:solidFill>
                <a:latin typeface="Arial"/>
              </a:rPr>
              <a:t>; exports up to USD 265m (mostly to Kenya).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Dense network of </a:t>
            </a:r>
            <a:r>
              <a:rPr sz="1700" b="1" i="0">
                <a:solidFill>
                  <a:srgbClr val="00AE9A"/>
                </a:solidFill>
                <a:latin typeface="Arial"/>
              </a:rPr>
              <a:t>milk collection centres (MCCs)</a:t>
            </a:r>
            <a:r>
              <a:rPr sz="1700" b="0" i="0">
                <a:solidFill>
                  <a:srgbClr val="2A2A2A"/>
                </a:solidFill>
                <a:latin typeface="Arial"/>
              </a:rPr>
              <a:t> linking farmers to processors.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Quality is central: it sets processing yields for cheese, casein, infant formula.</a:t>
            </a:r>
          </a:p>
          <a:p>
            <a:pPr algn="l" marL="274320" indent="-274320">
              <a:spcAft>
                <a:spcPts val="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Yet prices are </a:t>
            </a:r>
            <a:r>
              <a:rPr sz="1700" b="1" i="0">
                <a:solidFill>
                  <a:srgbClr val="EF463B"/>
                </a:solidFill>
                <a:latin typeface="Arial"/>
              </a:rPr>
              <a:t>fixed per litre</a:t>
            </a:r>
            <a:r>
              <a:rPr sz="1700" b="0" i="0">
                <a:solidFill>
                  <a:srgbClr val="2A2A2A"/>
                </a:solidFill>
                <a:latin typeface="Arial"/>
              </a:rPr>
              <a:t>, set for 2-week windows, paid biweekly — the quality–payment link is severed.</a:t>
            </a:r>
          </a:p>
        </p:txBody>
      </p:sp>
      <p:pic>
        <p:nvPicPr>
          <p:cNvPr id="4" name="Picture 3" descr="milk_analyzer_insta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660" y="1554480"/>
            <a:ext cx="3509238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62636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Experiment 1: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66928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sz="1900" b="1" i="0">
                <a:solidFill>
                  <a:srgbClr val="62BA45"/>
                </a:solidFill>
                <a:latin typeface="Arial"/>
              </a:rPr>
              <a:t>Cluster-randomised controlled trial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Unit of randomisation: </a:t>
            </a:r>
            <a:r>
              <a:rPr sz="1700" b="1" i="0">
                <a:solidFill>
                  <a:srgbClr val="00AE9A"/>
                </a:solidFill>
                <a:latin typeface="Arial"/>
              </a:rPr>
              <a:t>catchment area</a:t>
            </a:r>
            <a:r>
              <a:rPr sz="1700" b="0" i="0">
                <a:solidFill>
                  <a:srgbClr val="2A2A2A"/>
                </a:solidFill>
                <a:latin typeface="Arial"/>
              </a:rPr>
              <a:t> (1–few co-located MCCs + their farmers).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700" b="1" i="0">
                <a:solidFill>
                  <a:srgbClr val="007DB3"/>
                </a:solidFill>
                <a:latin typeface="Arial"/>
              </a:rPr>
              <a:t>95 clusters / 125 MCCs</a:t>
            </a:r>
            <a:r>
              <a:rPr sz="1700" b="0" i="0">
                <a:solidFill>
                  <a:srgbClr val="2A2A2A"/>
                </a:solidFill>
                <a:latin typeface="Arial"/>
              </a:rPr>
              <a:t>; ~half treated, half control.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700" b="1" i="0">
                <a:solidFill>
                  <a:srgbClr val="007DB3"/>
                </a:solidFill>
                <a:latin typeface="Arial"/>
              </a:rPr>
              <a:t>20 farmers</a:t>
            </a:r>
            <a:r>
              <a:rPr sz="1700" b="0" i="0">
                <a:solidFill>
                  <a:srgbClr val="2A2A2A"/>
                </a:solidFill>
                <a:latin typeface="Arial"/>
              </a:rPr>
              <a:t> sampled per MCC → ~2,500 farmers.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Effects estimated at </a:t>
            </a:r>
            <a:r>
              <a:rPr sz="1700" b="1" i="0">
                <a:solidFill>
                  <a:srgbClr val="8850A0"/>
                </a:solidFill>
                <a:latin typeface="Arial"/>
              </a:rPr>
              <a:t>three levels</a:t>
            </a:r>
            <a:r>
              <a:rPr sz="1700" b="0" i="0">
                <a:solidFill>
                  <a:srgbClr val="2A2A2A"/>
                </a:solidFill>
                <a:latin typeface="Arial"/>
              </a:rPr>
              <a:t>: MCC, farmer, and 2,518 supervised </a:t>
            </a:r>
            <a:r>
              <a:rPr sz="1700" b="1" i="0">
                <a:solidFill>
                  <a:srgbClr val="8850A0"/>
                </a:solidFill>
                <a:latin typeface="Arial"/>
              </a:rPr>
              <a:t>milk samples</a:t>
            </a:r>
            <a:r>
              <a:rPr sz="1700" b="0" i="0">
                <a:solidFill>
                  <a:srgbClr val="2A2A2A"/>
                </a:solidFill>
                <a:latin typeface="Arial"/>
              </a:rPr>
              <a:t> at endline.</a:t>
            </a:r>
          </a:p>
          <a:p>
            <a:pPr algn="l" marL="274320" indent="-274320">
              <a:spcAft>
                <a:spcPts val="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Baseline 2022  →  install/train 2023  →  endline Dec 2024.</a:t>
            </a:r>
          </a:p>
        </p:txBody>
      </p:sp>
      <p:pic>
        <p:nvPicPr>
          <p:cNvPr id="4" name="Picture 3" descr="sampling_two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37360"/>
            <a:ext cx="5120640" cy="36291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571500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sz="1100" b="0" i="0">
                <a:solidFill>
                  <a:srgbClr val="6E6E6E"/>
                </a:solidFill>
                <a:latin typeface="Arial"/>
              </a:rPr>
              <a:t>Treatment assignment: MCCs (left) and their farmers (right). Green = treated, red = control.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Experiment 1: the intervention bundle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72237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sz="1800" b="1" i="0">
                <a:solidFill>
                  <a:srgbClr val="62BA45"/>
                </a:solidFill>
                <a:latin typeface="Arial"/>
              </a:rPr>
              <a:t>1.  Milk analyzer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 — measures fat, SNF, protein, added water &amp; density in &lt;1 min/sample.</a:t>
            </a:r>
          </a:p>
          <a:p>
            <a:pPr algn="l">
              <a:spcAft>
                <a:spcPts val="1200"/>
              </a:spcAft>
              <a:buNone/>
            </a:pPr>
            <a:r>
              <a:rPr sz="1800" b="1" i="0">
                <a:solidFill>
                  <a:srgbClr val="00AE9A"/>
                </a:solidFill>
                <a:latin typeface="Arial"/>
              </a:rPr>
              <a:t>2.  Digital record-keeping app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 — Android tablet replaces paper notebook; stores quality + quantity per farmer, builds quality histories.</a:t>
            </a:r>
          </a:p>
          <a:p>
            <a:pPr algn="l">
              <a:spcAft>
                <a:spcPts val="1600"/>
              </a:spcAft>
              <a:buNone/>
            </a:pPr>
            <a:r>
              <a:rPr sz="1800" b="1" i="0">
                <a:solidFill>
                  <a:srgbClr val="007DB3"/>
                </a:solidFill>
                <a:latin typeface="Arial"/>
              </a:rPr>
              <a:t>3.  Farmer awareness campaign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 — posters publicise the new testing capacity and farmers’ right to request a free test.</a:t>
            </a:r>
          </a:p>
          <a:p>
            <a:pPr algn="l">
              <a:spcAft>
                <a:spcPts val="1000"/>
              </a:spcAft>
              <a:buNone/>
            </a:pPr>
            <a:r>
              <a:rPr sz="1800" b="1" i="0">
                <a:solidFill>
                  <a:srgbClr val="44546A"/>
                </a:solidFill>
                <a:latin typeface="Arial"/>
              </a:rPr>
              <a:t>Together: make quality </a:t>
            </a:r>
            <a:r>
              <a:rPr sz="1800" b="1" i="0">
                <a:solidFill>
                  <a:srgbClr val="8850A0"/>
                </a:solidFill>
                <a:latin typeface="Arial"/>
              </a:rPr>
              <a:t>observable, traceable, and actionable</a:t>
            </a:r>
            <a:r>
              <a:rPr sz="1800" b="1" i="0">
                <a:solidFill>
                  <a:srgbClr val="44546A"/>
                </a:solidFill>
                <a:latin typeface="Arial"/>
              </a:rPr>
              <a:t>.</a:t>
            </a:r>
          </a:p>
          <a:p>
            <a:pPr algn="l">
              <a:spcAft>
                <a:spcPts val="0"/>
              </a:spcAft>
              <a:buNone/>
            </a:pPr>
            <a:r>
              <a:rPr sz="1500" b="0" i="1">
                <a:solidFill>
                  <a:srgbClr val="2A2A2A"/>
                </a:solidFill>
                <a:latin typeface="Arial"/>
              </a:rPr>
              <a:t>Compliance was imperfect — first stage = </a:t>
            </a:r>
            <a:r>
              <a:rPr sz="1500" b="1" i="1">
                <a:solidFill>
                  <a:srgbClr val="EF463B"/>
                </a:solidFill>
                <a:latin typeface="Arial"/>
              </a:rPr>
              <a:t>0.37</a:t>
            </a:r>
            <a:r>
              <a:rPr sz="1500" b="0" i="1">
                <a:solidFill>
                  <a:srgbClr val="2A2A2A"/>
                </a:solidFill>
                <a:latin typeface="Arial"/>
              </a:rPr>
              <a:t> (24% → 61% with a functioning analyzer). ITT is a lower bound.</a:t>
            </a:r>
          </a:p>
        </p:txBody>
      </p:sp>
      <p:pic>
        <p:nvPicPr>
          <p:cNvPr id="4" name="Picture 3" descr="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0526" y="1554480"/>
            <a:ext cx="209854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Experiment 1 results: milk quality improves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000" b="0" i="0">
                <a:solidFill>
                  <a:srgbClr val="44546A"/>
                </a:solidFill>
                <a:latin typeface="Arial"/>
              </a:rPr>
              <a:t>On 2,518 supervised milk samples, treated MCCs receive </a:t>
            </a:r>
            <a:r>
              <a:rPr sz="2000" b="1" i="0">
                <a:solidFill>
                  <a:srgbClr val="62BA45"/>
                </a:solidFill>
                <a:latin typeface="Arial"/>
              </a:rPr>
              <a:t>cleaner, richer milk</a:t>
            </a:r>
            <a:r>
              <a:rPr sz="2000" b="0" i="0">
                <a:solidFill>
                  <a:srgbClr val="44546A"/>
                </a:solidFill>
                <a:latin typeface="Arial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31720"/>
            <a:ext cx="2514600" cy="15544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5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/>
          <a:lstStyle/>
          <a:p>
            <a:pPr algn="ctr">
              <a:spcAft>
                <a:spcPts val="200"/>
              </a:spcAft>
              <a:buNone/>
            </a:pPr>
            <a:r>
              <a:rPr sz="3000" b="1" i="0">
                <a:solidFill>
                  <a:srgbClr val="62BA45"/>
                </a:solidFill>
                <a:latin typeface="Arial"/>
              </a:rPr>
              <a:t>+0.11pp</a:t>
            </a:r>
          </a:p>
          <a:p>
            <a:pPr algn="ctr">
              <a:spcAft>
                <a:spcPts val="0"/>
              </a:spcAft>
              <a:buNone/>
            </a:pPr>
            <a:r>
              <a:rPr sz="1300" b="1" i="0">
                <a:solidFill>
                  <a:srgbClr val="44546A"/>
                </a:solidFill>
                <a:latin typeface="Arial"/>
              </a:rPr>
              <a:t>Butterfat **</a:t>
            </a:r>
          </a:p>
          <a:p>
            <a:pPr algn="ctr">
              <a:spcAft>
                <a:spcPts val="0"/>
              </a:spcAft>
              <a:buNone/>
            </a:pPr>
            <a:r>
              <a:rPr sz="1100" b="0" i="0">
                <a:solidFill>
                  <a:srgbClr val="6E6E6E"/>
                </a:solidFill>
                <a:latin typeface="Arial"/>
              </a:rPr>
              <a:t>3.88% → ~4.0%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2331720"/>
            <a:ext cx="2514600" cy="15544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5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/>
          <a:lstStyle/>
          <a:p>
            <a:pPr algn="ctr">
              <a:spcAft>
                <a:spcPts val="200"/>
              </a:spcAft>
              <a:buNone/>
            </a:pPr>
            <a:r>
              <a:rPr sz="3000" b="1" i="0">
                <a:solidFill>
                  <a:srgbClr val="EF463B"/>
                </a:solidFill>
                <a:latin typeface="Arial"/>
              </a:rPr>
              <a:t>−0.49pp</a:t>
            </a:r>
          </a:p>
          <a:p>
            <a:pPr algn="ctr">
              <a:spcAft>
                <a:spcPts val="0"/>
              </a:spcAft>
              <a:buNone/>
            </a:pPr>
            <a:r>
              <a:rPr sz="1300" b="1" i="0">
                <a:solidFill>
                  <a:srgbClr val="44546A"/>
                </a:solidFill>
                <a:latin typeface="Arial"/>
              </a:rPr>
              <a:t>Added water *</a:t>
            </a:r>
          </a:p>
          <a:p>
            <a:pPr algn="ctr">
              <a:spcAft>
                <a:spcPts val="0"/>
              </a:spcAft>
              <a:buNone/>
            </a:pPr>
            <a:r>
              <a:rPr sz="1100" b="0" i="0">
                <a:solidFill>
                  <a:srgbClr val="6E6E6E"/>
                </a:solidFill>
                <a:latin typeface="Arial"/>
              </a:rPr>
              <a:t>vs 1.63%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331720"/>
            <a:ext cx="2514600" cy="15544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5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/>
          <a:lstStyle/>
          <a:p>
            <a:pPr algn="ctr">
              <a:spcAft>
                <a:spcPts val="200"/>
              </a:spcAft>
              <a:buNone/>
            </a:pPr>
            <a:r>
              <a:rPr sz="3000" b="1" i="0">
                <a:solidFill>
                  <a:srgbClr val="00AE9A"/>
                </a:solidFill>
                <a:latin typeface="Arial"/>
              </a:rPr>
              <a:t>+0.44</a:t>
            </a:r>
          </a:p>
          <a:p>
            <a:pPr algn="ctr">
              <a:spcAft>
                <a:spcPts val="0"/>
              </a:spcAft>
              <a:buNone/>
            </a:pPr>
            <a:r>
              <a:rPr sz="1300" b="1" i="0">
                <a:solidFill>
                  <a:srgbClr val="44546A"/>
                </a:solidFill>
                <a:latin typeface="Arial"/>
              </a:rPr>
              <a:t>Density (CLR) *</a:t>
            </a:r>
          </a:p>
          <a:p>
            <a:pPr algn="ctr">
              <a:spcAft>
                <a:spcPts val="0"/>
              </a:spcAft>
              <a:buNone/>
            </a:pPr>
            <a:r>
              <a:rPr sz="1100" b="0" i="0">
                <a:solidFill>
                  <a:srgbClr val="6E6E6E"/>
                </a:solidFill>
                <a:latin typeface="Arial"/>
              </a:rPr>
              <a:t>less dilution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2331720"/>
            <a:ext cx="2514600" cy="15544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5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 bIns="76200"/>
          <a:lstStyle/>
          <a:p>
            <a:pPr algn="ctr">
              <a:spcAft>
                <a:spcPts val="200"/>
              </a:spcAft>
              <a:buNone/>
            </a:pPr>
            <a:r>
              <a:rPr sz="3000" b="1" i="0">
                <a:solidFill>
                  <a:srgbClr val="8850A0"/>
                </a:solidFill>
                <a:latin typeface="Arial"/>
              </a:rPr>
              <a:t>+0.21σ</a:t>
            </a:r>
          </a:p>
          <a:p>
            <a:pPr algn="ctr">
              <a:spcAft>
                <a:spcPts val="0"/>
              </a:spcAft>
              <a:buNone/>
            </a:pPr>
            <a:r>
              <a:rPr sz="1300" b="1" i="0">
                <a:solidFill>
                  <a:srgbClr val="44546A"/>
                </a:solidFill>
                <a:latin typeface="Arial"/>
              </a:rPr>
              <a:t>Quality index **</a:t>
            </a:r>
          </a:p>
          <a:p>
            <a:pPr algn="ctr">
              <a:spcAft>
                <a:spcPts val="0"/>
              </a:spcAft>
              <a:buNone/>
            </a:pPr>
            <a:r>
              <a:rPr sz="1100" b="0" i="0">
                <a:solidFill>
                  <a:srgbClr val="6E6E6E"/>
                </a:solidFill>
                <a:latin typeface="Arial"/>
              </a:rPr>
              <a:t>Anderson composite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Effects load on </a:t>
            </a:r>
            <a:r>
              <a:rPr sz="1800" b="1" i="0">
                <a:solidFill>
                  <a:srgbClr val="62BA45"/>
                </a:solidFill>
                <a:latin typeface="Arial"/>
              </a:rPr>
              <a:t>handling/adulteration margins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(fat, water, density), not on biologically-determined SNF and protein (both null).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Pattern is consistent with </a:t>
            </a:r>
            <a:r>
              <a:rPr sz="1800" b="1" i="0">
                <a:solidFill>
                  <a:srgbClr val="00AE9A"/>
                </a:solidFill>
                <a:latin typeface="Arial"/>
              </a:rPr>
              <a:t>reduced skimming and dilution</a:t>
            </a:r>
            <a:r>
              <a:rPr sz="1800" b="0" i="0">
                <a:solidFill>
                  <a:srgbClr val="2A2A2A"/>
                </a:solidFill>
                <a:latin typeface="Arial"/>
              </a:rPr>
              <a:t>, not deeper changes in feeding or production.</a:t>
            </a:r>
          </a:p>
          <a:p>
            <a:pPr algn="l" marL="274320" indent="-274320">
              <a:spcAft>
                <a:spcPts val="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Robust to dropping </a:t>
            </a:r>
            <a:r>
              <a:rPr sz="1800" b="1" i="0">
                <a:solidFill>
                  <a:srgbClr val="6E6E6E"/>
                </a:solidFill>
                <a:latin typeface="Arial"/>
              </a:rPr>
              <a:t>contaminated controls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(index +0.22σ on clean sample) and to LATE.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Experiment 1 results: … but no price premium emerges</a:t>
            </a:r>
          </a:p>
        </p:txBody>
      </p:sp>
      <p:pic>
        <p:nvPicPr>
          <p:cNvPr id="3" name="Picture 2" descr="fig_forest_mcc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3886200" cy="2331720"/>
          </a:xfrm>
          <a:prstGeom prst="rect">
            <a:avLst/>
          </a:prstGeom>
        </p:spPr>
      </p:pic>
      <p:pic>
        <p:nvPicPr>
          <p:cNvPr id="4" name="Picture 3" descr="fig_forest_farmer_pri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463040"/>
            <a:ext cx="3886200" cy="2331720"/>
          </a:xfrm>
          <a:prstGeom prst="rect">
            <a:avLst/>
          </a:prstGeom>
        </p:spPr>
      </p:pic>
      <p:pic>
        <p:nvPicPr>
          <p:cNvPr id="5" name="Picture 4" descr="fig_forest_prices_exp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463040"/>
            <a:ext cx="3886200" cy="2331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0060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700" b="1" i="0">
                <a:solidFill>
                  <a:srgbClr val="62BA45"/>
                </a:solidFill>
                <a:latin typeface="Arial"/>
              </a:rPr>
              <a:t>Testing behaviour jumps</a:t>
            </a:r>
            <a:r>
              <a:rPr sz="1700" b="0" i="0">
                <a:solidFill>
                  <a:srgbClr val="2A2A2A"/>
                </a:solidFill>
                <a:latin typeface="Arial"/>
              </a:rPr>
              <a:t>: treated MCCs test incoming milk +53pp (29% → 82%).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Prices and premiums: </a:t>
            </a:r>
            <a:r>
              <a:rPr sz="1700" b="1" i="0">
                <a:solidFill>
                  <a:srgbClr val="EF463B"/>
                </a:solidFill>
                <a:latin typeface="Arial"/>
              </a:rPr>
              <a:t>all null</a:t>
            </a:r>
            <a:r>
              <a:rPr sz="1700" b="0" i="0">
                <a:solidFill>
                  <a:srgbClr val="2A2A2A"/>
                </a:solidFill>
                <a:latin typeface="Arial"/>
              </a:rPr>
              <a:t> — farm-gate price, MCC buy/sell price, quality bonuses (MCC &amp; farmer).</a:t>
            </a:r>
          </a:p>
          <a:p>
            <a:pPr algn="l">
              <a:spcAft>
                <a:spcPts val="0"/>
              </a:spcAft>
              <a:buNone/>
            </a:pPr>
            <a:r>
              <a:rPr sz="1800" b="1" i="0">
                <a:solidFill>
                  <a:srgbClr val="44546A"/>
                </a:solidFill>
                <a:latin typeface="Arial"/>
              </a:rPr>
              <a:t>Quality rises, but no one is paid for it. </a:t>
            </a:r>
            <a:r>
              <a:rPr sz="1800" b="1" i="0">
                <a:solidFill>
                  <a:srgbClr val="8850A0"/>
                </a:solidFill>
                <a:latin typeface="Arial"/>
              </a:rPr>
              <a:t>Enforcement without a price.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A model: two channels for quality infrastructure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1800" b="0" i="0">
                <a:solidFill>
                  <a:srgbClr val="44546A"/>
                </a:solidFill>
                <a:latin typeface="Arial"/>
              </a:rPr>
              <a:t>MCC sees a noisy signal </a:t>
            </a:r>
            <a:r>
              <a:rPr sz="1800" b="1" i="0">
                <a:solidFill>
                  <a:srgbClr val="007DB3"/>
                </a:solidFill>
                <a:latin typeface="Arial"/>
              </a:rPr>
              <a:t>sᵢ = qᵢ + ηᵢ,  ηᵢ ~ N(0, σ²)</a:t>
            </a:r>
            <a:r>
              <a:rPr sz="1800" b="0" i="0">
                <a:solidFill>
                  <a:srgbClr val="44546A"/>
                </a:solidFill>
                <a:latin typeface="Arial"/>
              </a:rPr>
              <a:t>;  accepts if sᵢ ≥ q_min.  The analyzer drives σ² → 0.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5303520" cy="3566160"/>
          </a:xfrm>
          <a:prstGeom prst="roundRect">
            <a:avLst/>
          </a:prstGeom>
          <a:solidFill>
            <a:srgbClr val="ECF5E9"/>
          </a:solidFill>
          <a:ln w="12700">
            <a:solidFill>
              <a:srgbClr val="62B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/>
          <a:lstStyle/>
          <a:p>
            <a:pPr algn="l">
              <a:spcAft>
                <a:spcPts val="800"/>
              </a:spcAft>
              <a:buNone/>
            </a:pPr>
            <a:r>
              <a:rPr sz="1900" b="1" i="0">
                <a:solidFill>
                  <a:srgbClr val="62BA45"/>
                </a:solidFill>
                <a:latin typeface="Arial"/>
              </a:rPr>
              <a:t>Enforcement channel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A2A2A"/>
                </a:solidFill>
                <a:latin typeface="Arial"/>
              </a:rPr>
              <a:t>Lower σ² makes the rejection threshold </a:t>
            </a:r>
            <a:r>
              <a:rPr sz="1500" b="1" i="0">
                <a:solidFill>
                  <a:srgbClr val="62BA45"/>
                </a:solidFill>
                <a:latin typeface="Arial"/>
              </a:rPr>
              <a:t>credibly bind</a:t>
            </a:r>
            <a:r>
              <a:rPr sz="1500" b="0" i="0">
                <a:solidFill>
                  <a:srgbClr val="2A2A2A"/>
                </a:solidFill>
                <a:latin typeface="Arial"/>
              </a:rPr>
              <a:t>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A2A2A"/>
                </a:solidFill>
                <a:latin typeface="Arial"/>
              </a:rPr>
              <a:t>Farmers near q_min raise effort to </a:t>
            </a:r>
            <a:r>
              <a:rPr sz="1500" b="1" i="0">
                <a:solidFill>
                  <a:srgbClr val="2A2A2A"/>
                </a:solidFill>
                <a:latin typeface="Arial"/>
              </a:rPr>
              <a:t>avoid rejection</a:t>
            </a:r>
            <a:r>
              <a:rPr sz="1500" b="0" i="0">
                <a:solidFill>
                  <a:srgbClr val="2A2A2A"/>
                </a:solidFill>
                <a:latin typeface="Arial"/>
              </a:rPr>
              <a:t> — the extensive margin.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A2A2A"/>
                </a:solidFill>
                <a:latin typeface="Arial"/>
              </a:rPr>
              <a:t>Works even if the price premium α = 0.</a:t>
            </a:r>
          </a:p>
          <a:p>
            <a:pPr algn="l">
              <a:spcAft>
                <a:spcPts val="0"/>
              </a:spcAft>
              <a:buNone/>
            </a:pPr>
            <a:r>
              <a:rPr sz="1500" b="1" i="0">
                <a:solidFill>
                  <a:srgbClr val="62BA45"/>
                </a:solidFill>
                <a:latin typeface="Arial"/>
              </a:rPr>
              <a:t>Signature: quality ↑ (esp. lower tail), prices flat.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377440"/>
            <a:ext cx="5303520" cy="3566160"/>
          </a:xfrm>
          <a:prstGeom prst="roundRect">
            <a:avLst/>
          </a:prstGeom>
          <a:solidFill>
            <a:srgbClr val="FDF0E4"/>
          </a:solidFill>
          <a:ln w="12700">
            <a:solidFill>
              <a:srgbClr val="F79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/>
          <a:lstStyle/>
          <a:p>
            <a:pPr algn="l">
              <a:spcAft>
                <a:spcPts val="800"/>
              </a:spcAft>
              <a:buNone/>
            </a:pPr>
            <a:r>
              <a:rPr sz="1900" b="1" i="0">
                <a:solidFill>
                  <a:srgbClr val="F7921E"/>
                </a:solidFill>
                <a:latin typeface="Arial"/>
              </a:rPr>
              <a:t>Price channel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A2A2A"/>
                </a:solidFill>
                <a:latin typeface="Arial"/>
              </a:rPr>
              <a:t>Requires a per-unit quality premium </a:t>
            </a:r>
            <a:r>
              <a:rPr sz="1500" b="1" i="0">
                <a:solidFill>
                  <a:srgbClr val="F7921E"/>
                </a:solidFill>
                <a:latin typeface="Arial"/>
              </a:rPr>
              <a:t>α &gt; 0</a:t>
            </a:r>
            <a:r>
              <a:rPr sz="1500" b="0" i="0">
                <a:solidFill>
                  <a:srgbClr val="2A2A2A"/>
                </a:solidFill>
                <a:latin typeface="Arial"/>
              </a:rPr>
              <a:t> paid up the chain.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A2A2A"/>
                </a:solidFill>
                <a:latin typeface="Arial"/>
              </a:rPr>
              <a:t>And pass-through </a:t>
            </a:r>
            <a:r>
              <a:rPr sz="1500" b="1" i="0">
                <a:solidFill>
                  <a:srgbClr val="F7921E"/>
                </a:solidFill>
                <a:latin typeface="Arial"/>
              </a:rPr>
              <a:t>λᵢ &gt; 0</a:t>
            </a:r>
            <a:r>
              <a:rPr sz="1500" b="0" i="0">
                <a:solidFill>
                  <a:srgbClr val="2A2A2A"/>
                </a:solidFill>
                <a:latin typeface="Arial"/>
              </a:rPr>
              <a:t> so it reaches farmers.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A2A2A"/>
                </a:solidFill>
                <a:latin typeface="Arial"/>
              </a:rPr>
              <a:t>Rewards quality along the </a:t>
            </a:r>
            <a:r>
              <a:rPr sz="1500" b="1" i="0">
                <a:solidFill>
                  <a:srgbClr val="2A2A2A"/>
                </a:solidFill>
                <a:latin typeface="Arial"/>
              </a:rPr>
              <a:t>continuous gradient</a:t>
            </a:r>
            <a:r>
              <a:rPr sz="1500" b="0" i="0">
                <a:solidFill>
                  <a:srgbClr val="2A2A2A"/>
                </a:solidFill>
                <a:latin typeface="Arial"/>
              </a:rPr>
              <a:t>.</a:t>
            </a:r>
          </a:p>
          <a:p>
            <a:pPr algn="l">
              <a:spcAft>
                <a:spcPts val="0"/>
              </a:spcAft>
              <a:buNone/>
            </a:pPr>
            <a:r>
              <a:rPr sz="1500" b="1" i="0">
                <a:solidFill>
                  <a:srgbClr val="2A2A2A"/>
                </a:solidFill>
                <a:latin typeface="Arial"/>
              </a:rPr>
              <a:t>Exp 1: measurement alone did </a:t>
            </a:r>
            <a:r>
              <a:rPr sz="1500" b="1" i="0">
                <a:solidFill>
                  <a:srgbClr val="EF463B"/>
                </a:solidFill>
                <a:latin typeface="Arial"/>
              </a:rPr>
              <a:t>not</a:t>
            </a:r>
            <a:r>
              <a:rPr sz="1500" b="1" i="0">
                <a:solidFill>
                  <a:srgbClr val="2A2A2A"/>
                </a:solidFill>
                <a:latin typeface="Arial"/>
              </a:rPr>
              <a:t> activate 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Making the floor bite: the enforcement signature</a:t>
            </a:r>
          </a:p>
        </p:txBody>
      </p:sp>
      <p:pic>
        <p:nvPicPr>
          <p:cNvPr id="3" name="Picture 2" descr="fig_cdf_added_wa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66928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645920"/>
            <a:ext cx="53949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buNone/>
            </a:pPr>
            <a:r>
              <a:rPr sz="1800" b="1" i="0">
                <a:solidFill>
                  <a:srgbClr val="44546A"/>
                </a:solidFill>
                <a:latin typeface="Arial"/>
              </a:rPr>
              <a:t>Prediction: </a:t>
            </a:r>
            <a:r>
              <a:rPr sz="1800" b="1" i="0">
                <a:solidFill>
                  <a:srgbClr val="62BA45"/>
                </a:solidFill>
                <a:latin typeface="Arial"/>
              </a:rPr>
              <a:t>a credible floor disciplines the lower tail</a:t>
            </a:r>
            <a:r>
              <a:rPr sz="1800" b="1" i="0">
                <a:solidFill>
                  <a:srgbClr val="44546A"/>
                </a:solidFill>
                <a:latin typeface="Arial"/>
              </a:rPr>
              <a:t>, leaving clean suppliers unchanged.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600" b="0" i="0">
                <a:solidFill>
                  <a:srgbClr val="2A2A2A"/>
                </a:solidFill>
                <a:latin typeface="Arial"/>
              </a:rPr>
              <a:t>Treatment CDF of added water lies </a:t>
            </a:r>
            <a:r>
              <a:rPr sz="1600" b="1" i="0">
                <a:solidFill>
                  <a:srgbClr val="62BA45"/>
                </a:solidFill>
                <a:latin typeface="Arial"/>
              </a:rPr>
              <a:t>above</a:t>
            </a:r>
            <a:r>
              <a:rPr sz="1600" b="0" i="0">
                <a:solidFill>
                  <a:srgbClr val="2A2A2A"/>
                </a:solidFill>
                <a:latin typeface="Arial"/>
              </a:rPr>
              <a:t> control — first-order stochastic dominance.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600" b="0" i="0">
                <a:solidFill>
                  <a:srgbClr val="2A2A2A"/>
                </a:solidFill>
                <a:latin typeface="Arial"/>
              </a:rPr>
              <a:t>Serious adulteration (&gt;5% water): </a:t>
            </a:r>
            <a:r>
              <a:rPr sz="1600" b="1" i="0">
                <a:solidFill>
                  <a:srgbClr val="EF463B"/>
                </a:solidFill>
                <a:latin typeface="Arial"/>
              </a:rPr>
              <a:t>11% → 5%</a:t>
            </a:r>
            <a:r>
              <a:rPr sz="1600" b="0" i="0">
                <a:solidFill>
                  <a:srgbClr val="2A2A2A"/>
                </a:solidFill>
                <a:latin typeface="Arial"/>
              </a:rPr>
              <a:t>, roughly halved.</a:t>
            </a:r>
          </a:p>
          <a:p>
            <a:pPr algn="l" marL="274320" indent="-274320">
              <a:spcAft>
                <a:spcPts val="1000"/>
              </a:spcAft>
              <a:buFont typeface="Arial"/>
              <a:buChar char="•"/>
            </a:pPr>
            <a:r>
              <a:rPr sz="1600" b="0" i="0">
                <a:solidFill>
                  <a:srgbClr val="2A2A2A"/>
                </a:solidFill>
                <a:latin typeface="Arial"/>
              </a:rPr>
              <a:t>Median delivery: </a:t>
            </a:r>
            <a:r>
              <a:rPr sz="1600" b="1" i="0">
                <a:solidFill>
                  <a:srgbClr val="6E6E6E"/>
                </a:solidFill>
                <a:latin typeface="Arial"/>
              </a:rPr>
              <a:t>unchanged</a:t>
            </a:r>
            <a:r>
              <a:rPr sz="1600" b="0" i="0">
                <a:solidFill>
                  <a:srgbClr val="2A2A2A"/>
                </a:solidFill>
                <a:latin typeface="Arial"/>
              </a:rPr>
              <a:t> — already clean.</a:t>
            </a:r>
          </a:p>
          <a:p>
            <a:pPr algn="l">
              <a:spcAft>
                <a:spcPts val="0"/>
              </a:spcAft>
              <a:buNone/>
            </a:pPr>
            <a:r>
              <a:rPr sz="1600" b="1" i="0">
                <a:solidFill>
                  <a:srgbClr val="44546A"/>
                </a:solidFill>
                <a:latin typeface="Arial"/>
              </a:rPr>
              <a:t>The threat of rejection, once toothless under noise, becomes real. </a:t>
            </a:r>
            <a:r>
              <a:rPr sz="1600" b="1" i="0">
                <a:solidFill>
                  <a:srgbClr val="62BA45"/>
                </a:solidFill>
                <a:latin typeface="Arial"/>
              </a:rPr>
              <a:t>The floor bites the worst adulterators.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What the model says is missing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100" b="0" i="0">
                <a:solidFill>
                  <a:srgbClr val="44546A"/>
                </a:solidFill>
                <a:latin typeface="Arial"/>
              </a:rPr>
              <a:t>Enforcement fixed the </a:t>
            </a:r>
            <a:r>
              <a:rPr sz="2100" b="1" i="0">
                <a:solidFill>
                  <a:srgbClr val="62BA45"/>
                </a:solidFill>
                <a:latin typeface="Arial"/>
              </a:rPr>
              <a:t>floor</a:t>
            </a:r>
            <a:r>
              <a:rPr sz="2100" b="0" i="0">
                <a:solidFill>
                  <a:srgbClr val="44546A"/>
                </a:solidFill>
                <a:latin typeface="Arial"/>
              </a:rPr>
              <a:t>. To reward quality along the </a:t>
            </a:r>
            <a:r>
              <a:rPr sz="2100" b="1" i="0">
                <a:solidFill>
                  <a:srgbClr val="F7921E"/>
                </a:solidFill>
                <a:latin typeface="Arial"/>
              </a:rPr>
              <a:t>gradient</a:t>
            </a:r>
            <a:r>
              <a:rPr sz="2100" b="0" i="0">
                <a:solidFill>
                  <a:srgbClr val="44546A"/>
                </a:solidFill>
                <a:latin typeface="Arial"/>
              </a:rPr>
              <a:t>, someone must pay a premium — and pass it up.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3383280" cy="2194560"/>
          </a:xfrm>
          <a:prstGeom prst="roundRect">
            <a:avLst/>
          </a:prstGeom>
          <a:solidFill>
            <a:srgbClr val="F3F6F2"/>
          </a:solidFill>
          <a:ln w="12700">
            <a:solidFill>
              <a:srgbClr val="6E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>
              <a:spcAft>
                <a:spcPts val="600"/>
              </a:spcAft>
              <a:buNone/>
            </a:pPr>
            <a:r>
              <a:rPr sz="1600" b="1" i="0">
                <a:solidFill>
                  <a:srgbClr val="44546A"/>
                </a:solidFill>
                <a:latin typeface="Arial"/>
              </a:rPr>
              <a:t>Can’t move α at the processor</a:t>
            </a:r>
          </a:p>
          <a:p>
            <a:pPr algn="ctr">
              <a:spcAft>
                <a:spcPts val="0"/>
              </a:spcAft>
              <a:buNone/>
            </a:pPr>
            <a:r>
              <a:rPr sz="1300" b="0" i="0">
                <a:solidFill>
                  <a:srgbClr val="6E6E6E"/>
                </a:solidFill>
                <a:latin typeface="Arial"/>
              </a:rPr>
              <a:t>would need to change how processors price — outside the project’s reach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3108960"/>
            <a:ext cx="3383280" cy="2194560"/>
          </a:xfrm>
          <a:prstGeom prst="roundRect">
            <a:avLst/>
          </a:prstGeom>
          <a:solidFill>
            <a:srgbClr val="FDF0E4"/>
          </a:solidFill>
          <a:ln w="12700">
            <a:solidFill>
              <a:srgbClr val="F79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>
              <a:spcAft>
                <a:spcPts val="600"/>
              </a:spcAft>
              <a:buNone/>
            </a:pPr>
            <a:r>
              <a:rPr sz="1600" b="1" i="0">
                <a:solidFill>
                  <a:srgbClr val="F7921E"/>
                </a:solidFill>
                <a:latin typeface="Arial"/>
              </a:rPr>
              <a:t>So inject λα &gt; 0 one node down</a:t>
            </a:r>
          </a:p>
          <a:p>
            <a:pPr algn="ctr">
              <a:spcAft>
                <a:spcPts val="0"/>
              </a:spcAft>
              <a:buNone/>
            </a:pPr>
            <a:r>
              <a:rPr sz="1300" b="0" i="0">
                <a:solidFill>
                  <a:srgbClr val="2A2A2A"/>
                </a:solidFill>
                <a:latin typeface="Arial"/>
              </a:rPr>
              <a:t>pay traders directly for verified quality at the trader–MCC interface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3108960"/>
            <a:ext cx="3383280" cy="2194560"/>
          </a:xfrm>
          <a:prstGeom prst="roundRect">
            <a:avLst/>
          </a:prstGeom>
          <a:solidFill>
            <a:srgbClr val="ECF2F8"/>
          </a:solidFill>
          <a:ln w="12700">
            <a:solidFill>
              <a:srgbClr val="007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/>
          <a:lstStyle/>
          <a:p>
            <a:pPr algn="ctr">
              <a:spcAft>
                <a:spcPts val="600"/>
              </a:spcAft>
              <a:buNone/>
            </a:pPr>
            <a:r>
              <a:rPr sz="1600" b="1" i="0">
                <a:solidFill>
                  <a:srgbClr val="007DB3"/>
                </a:solidFill>
                <a:latin typeface="Arial"/>
              </a:rPr>
              <a:t>Test: is it passed to farmers?</a:t>
            </a:r>
          </a:p>
          <a:p>
            <a:pPr algn="ctr">
              <a:spcAft>
                <a:spcPts val="0"/>
              </a:spcAft>
              <a:buNone/>
            </a:pPr>
            <a:r>
              <a:rPr sz="1300" b="0" i="0">
                <a:solidFill>
                  <a:srgbClr val="2A2A2A"/>
                </a:solidFill>
                <a:latin typeface="Arial"/>
              </a:rPr>
              <a:t>observe whether traders share the bonus upstream — the pass-through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3886200"/>
            <a:ext cx="411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sz="3400" b="1" i="0">
                <a:solidFill>
                  <a:srgbClr val="6E6E6E"/>
                </a:solidFill>
                <a:latin typeface="Arial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886200"/>
            <a:ext cx="411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sz="3400" b="1" i="0">
                <a:solidFill>
                  <a:srgbClr val="6E6E6E"/>
                </a:solidFill>
                <a:latin typeface="Arial"/>
              </a:rPr>
              <a:t>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Experiment 2: paying traders for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08760"/>
            <a:ext cx="676656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sz="1900" b="1" i="0">
                <a:solidFill>
                  <a:srgbClr val="F7921E"/>
                </a:solidFill>
                <a:latin typeface="Arial"/>
              </a:rPr>
              <a:t>Within-MCC RCT on the Exp 1 infrastructure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A2A2A"/>
                </a:solidFill>
                <a:latin typeface="Arial"/>
              </a:rPr>
              <a:t>19 MCCs (Kazo) where the analyzer system stayed live; </a:t>
            </a:r>
            <a:r>
              <a:rPr sz="1600" b="1" i="0">
                <a:solidFill>
                  <a:srgbClr val="007DB3"/>
                </a:solidFill>
                <a:latin typeface="Arial"/>
              </a:rPr>
              <a:t>47 treated / 52 control traders</a:t>
            </a:r>
            <a:r>
              <a:rPr sz="1600" b="0" i="0">
                <a:solidFill>
                  <a:srgbClr val="2A2A2A"/>
                </a:solidFill>
                <a:latin typeface="Arial"/>
              </a:rPr>
              <a:t>, randomised within MCC.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A2A2A"/>
                </a:solidFill>
                <a:latin typeface="Arial"/>
              </a:rPr>
              <a:t>Both arms tested + told their readings. Treated traders additionally get a </a:t>
            </a:r>
            <a:r>
              <a:rPr sz="1600" b="1" i="0">
                <a:solidFill>
                  <a:srgbClr val="F7921E"/>
                </a:solidFill>
                <a:latin typeface="Arial"/>
              </a:rPr>
              <a:t>cash bonus</a:t>
            </a:r>
            <a:r>
              <a:rPr sz="1600" b="0" i="0">
                <a:solidFill>
                  <a:srgbClr val="2A2A2A"/>
                </a:solidFill>
                <a:latin typeface="Arial"/>
              </a:rPr>
              <a:t> via mobile money: UGX 100/litre per 0.1pp of fat &amp; SNF above standard.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A2A2A"/>
                </a:solidFill>
                <a:latin typeface="Arial"/>
              </a:rPr>
              <a:t>Isolates the </a:t>
            </a:r>
            <a:r>
              <a:rPr sz="1600" b="1" i="0">
                <a:solidFill>
                  <a:srgbClr val="F7921E"/>
                </a:solidFill>
                <a:latin typeface="Arial"/>
              </a:rPr>
              <a:t>price incentive</a:t>
            </a:r>
            <a:r>
              <a:rPr sz="1600" b="0" i="0">
                <a:solidFill>
                  <a:srgbClr val="2A2A2A"/>
                </a:solidFill>
                <a:latin typeface="Arial"/>
              </a:rPr>
              <a:t> from the information channel.</a:t>
            </a:r>
          </a:p>
          <a:p>
            <a:pPr algn="l" marL="274320" indent="-274320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A2A2A"/>
                </a:solidFill>
                <a:latin typeface="Arial"/>
              </a:rPr>
              <a:t>Daily mobile-money payment + SMS → </a:t>
            </a:r>
            <a:r>
              <a:rPr sz="1600" b="1" i="0">
                <a:solidFill>
                  <a:srgbClr val="8850A0"/>
                </a:solidFill>
                <a:latin typeface="Arial"/>
              </a:rPr>
              <a:t>dense daily panel</a:t>
            </a:r>
            <a:r>
              <a:rPr sz="1600" b="0" i="0">
                <a:solidFill>
                  <a:srgbClr val="2A2A2A"/>
                </a:solidFill>
                <a:latin typeface="Arial"/>
              </a:rPr>
              <a:t> (5,596 submissions, 31 days).</a:t>
            </a:r>
          </a:p>
          <a:p>
            <a:pPr algn="l" marL="274320" indent="-274320">
              <a:spcAft>
                <a:spcPts val="400"/>
              </a:spcAft>
              <a:buFont typeface="Arial"/>
              <a:buChar char="•"/>
            </a:pPr>
            <a:r>
              <a:rPr sz="1600" b="1" i="0">
                <a:solidFill>
                  <a:srgbClr val="2A2A2A"/>
                </a:solidFill>
                <a:latin typeface="Arial"/>
              </a:rPr>
              <a:t>Surprise mid-experiment </a:t>
            </a:r>
            <a:r>
              <a:rPr sz="1600" b="1" i="0">
                <a:solidFill>
                  <a:srgbClr val="EF463B"/>
                </a:solidFill>
                <a:latin typeface="Arial"/>
              </a:rPr>
              <a:t>threshold shift</a:t>
            </a:r>
            <a:r>
              <a:rPr sz="1600" b="1" i="0">
                <a:solidFill>
                  <a:srgbClr val="2A2A2A"/>
                </a:solidFill>
                <a:latin typeface="Arial"/>
              </a:rPr>
              <a:t>:</a:t>
            </a:r>
          </a:p>
          <a:p>
            <a:pPr algn="l" lvl="1">
              <a:spcAft>
                <a:spcPts val="200"/>
              </a:spcAft>
              <a:buNone/>
            </a:pPr>
            <a:r>
              <a:rPr sz="1500" b="1" i="0">
                <a:solidFill>
                  <a:srgbClr val="62BA45"/>
                </a:solidFill>
                <a:latin typeface="Arial"/>
              </a:rPr>
              <a:t>Stage 1 (fat ≥ 3.3%) </a:t>
            </a:r>
            <a:r>
              <a:rPr sz="1500" b="0" i="0">
                <a:solidFill>
                  <a:srgbClr val="2A2A2A"/>
                </a:solidFill>
                <a:latin typeface="Arial"/>
              </a:rPr>
              <a:t>— easy, rainy season → low q_min.</a:t>
            </a:r>
          </a:p>
          <a:p>
            <a:pPr algn="l" lvl="1">
              <a:spcAft>
                <a:spcPts val="0"/>
              </a:spcAft>
              <a:buNone/>
            </a:pPr>
            <a:r>
              <a:rPr sz="1500" b="1" i="0">
                <a:solidFill>
                  <a:srgbClr val="EF463B"/>
                </a:solidFill>
                <a:latin typeface="Arial"/>
              </a:rPr>
              <a:t>Stage 2 (fat ≥ 3.9%) </a:t>
            </a:r>
            <a:r>
              <a:rPr sz="1500" b="0" i="0">
                <a:solidFill>
                  <a:srgbClr val="2A2A2A"/>
                </a:solidFill>
                <a:latin typeface="Arial"/>
              </a:rPr>
              <a:t>— many deliveries now fail → high q_min.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828800"/>
            <a:ext cx="3931920" cy="3108960"/>
          </a:xfrm>
          <a:prstGeom prst="roundRect">
            <a:avLst/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/>
          <a:lstStyle/>
          <a:p>
            <a:pPr algn="ctr">
              <a:spcAft>
                <a:spcPts val="800"/>
              </a:spcAft>
              <a:buNone/>
            </a:pPr>
            <a:r>
              <a:rPr sz="1800" b="1" i="0">
                <a:solidFill>
                  <a:srgbClr val="F7921E"/>
                </a:solidFill>
                <a:latin typeface="Arial"/>
              </a:rPr>
              <a:t>Why traders?</a:t>
            </a:r>
          </a:p>
          <a:p>
            <a:pPr algn="ctr">
              <a:spcAft>
                <a:spcPts val="800"/>
              </a:spcAft>
              <a:buNone/>
            </a:pPr>
            <a:r>
              <a:rPr sz="1400" b="0" i="0">
                <a:solidFill>
                  <a:srgbClr val="2A2A2A"/>
                </a:solidFill>
                <a:latin typeface="Arial"/>
              </a:rPr>
              <a:t>largest unrealised quality gains sit at the trader link</a:t>
            </a:r>
          </a:p>
          <a:p>
            <a:pPr algn="ctr">
              <a:spcAft>
                <a:spcPts val="800"/>
              </a:spcAft>
              <a:buNone/>
            </a:pPr>
            <a:r>
              <a:rPr sz="1400" b="0" i="0">
                <a:solidFill>
                  <a:srgbClr val="2A2A2A"/>
                </a:solidFill>
                <a:latin typeface="Arial"/>
              </a:rPr>
              <a:t>creates a testable pass-through margin to farmers</a:t>
            </a:r>
          </a:p>
          <a:p>
            <a:pPr algn="ctr">
              <a:spcAft>
                <a:spcPts val="0"/>
              </a:spcAft>
              <a:buNone/>
            </a:pPr>
            <a:r>
              <a:rPr sz="1400" b="0" i="0">
                <a:solidFill>
                  <a:srgbClr val="2A2A2A"/>
                </a:solidFill>
                <a:latin typeface="Arial"/>
              </a:rPr>
              <a:t>~100 traders: power without 500 farmers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Experiment 2: traders respond on volume first</a:t>
            </a:r>
          </a:p>
        </p:txBody>
      </p:sp>
      <p:pic>
        <p:nvPicPr>
          <p:cNvPr id="3" name="Picture 2" descr="fig_daily_qua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7040880" cy="42245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828800"/>
            <a:ext cx="3749039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F7921E"/>
                </a:solidFill>
                <a:latin typeface="Arial"/>
              </a:rPr>
              <a:t>+124 L/day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delivered by treated traders (~+45%).</a:t>
            </a:r>
          </a:p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Response is </a:t>
            </a:r>
            <a:r>
              <a:rPr sz="1800" b="1" i="0">
                <a:solidFill>
                  <a:srgbClr val="62BA45"/>
                </a:solidFill>
                <a:latin typeface="Arial"/>
              </a:rPr>
              <a:t>immediate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and present in </a:t>
            </a:r>
            <a:r>
              <a:rPr sz="1800" b="1" i="0">
                <a:solidFill>
                  <a:srgbClr val="2A2A2A"/>
                </a:solidFill>
                <a:latin typeface="Arial"/>
              </a:rPr>
              <a:t>both stages</a:t>
            </a:r>
            <a:r>
              <a:rPr sz="1800" b="0" i="0">
                <a:solidFill>
                  <a:srgbClr val="2A2A2A"/>
                </a:solidFill>
                <a:latin typeface="Arial"/>
              </a:rPr>
              <a:t>.</a:t>
            </a:r>
          </a:p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When the threshold is easy to clear (Stage 1), the cheapest way to earn more bonus is to </a:t>
            </a:r>
            <a:r>
              <a:rPr sz="1800" b="1" i="0">
                <a:solidFill>
                  <a:srgbClr val="F7921E"/>
                </a:solidFill>
                <a:latin typeface="Arial"/>
              </a:rPr>
              <a:t>source more milk</a:t>
            </a:r>
            <a:r>
              <a:rPr sz="1800" b="0" i="0">
                <a:solidFill>
                  <a:srgbClr val="2A2A2A"/>
                </a:solidFill>
                <a:latin typeface="Arial"/>
              </a:rPr>
              <a:t>.</a:t>
            </a:r>
          </a:p>
          <a:p>
            <a:pPr algn="l" marL="274320" indent="-274320">
              <a:spcAft>
                <a:spcPts val="0"/>
              </a:spcAft>
              <a:buFont typeface="Arial"/>
              <a:buChar char="•"/>
            </a:pPr>
            <a:r>
              <a:rPr sz="1600" b="0" i="0">
                <a:solidFill>
                  <a:srgbClr val="2A2A2A"/>
                </a:solidFill>
                <a:latin typeface="Arial"/>
              </a:rPr>
              <a:t>Volume is a low-cost margin: recruit more suppliers, collect bigger loads.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Quality responds only once the floor bites</a:t>
            </a:r>
          </a:p>
        </p:txBody>
      </p:sp>
      <p:pic>
        <p:nvPicPr>
          <p:cNvPr id="3" name="Picture 2" descr="fig_daily_f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7040880" cy="42245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737360"/>
            <a:ext cx="3749039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700" b="1" i="0">
                <a:solidFill>
                  <a:srgbClr val="62BA45"/>
                </a:solidFill>
                <a:latin typeface="Arial"/>
              </a:rPr>
              <a:t>Stage 1 (fat ≥ 3.3%): </a:t>
            </a:r>
            <a:r>
              <a:rPr sz="1700" b="1" i="0">
                <a:solidFill>
                  <a:srgbClr val="6E6E6E"/>
                </a:solidFill>
                <a:latin typeface="Arial"/>
              </a:rPr>
              <a:t>no quality response</a:t>
            </a:r>
            <a:r>
              <a:rPr sz="1700" b="0" i="0">
                <a:solidFill>
                  <a:srgbClr val="2A2A2A"/>
                </a:solidFill>
                <a:latin typeface="Arial"/>
              </a:rPr>
              <a:t> (+0.035pp, n.s.).</a:t>
            </a:r>
          </a:p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700" b="1" i="0">
                <a:solidFill>
                  <a:srgbClr val="EF463B"/>
                </a:solidFill>
                <a:latin typeface="Arial"/>
              </a:rPr>
              <a:t>Stage 2 (fat ≥ 3.9%): </a:t>
            </a:r>
            <a:r>
              <a:rPr sz="1700" b="1" i="0">
                <a:solidFill>
                  <a:srgbClr val="62BA45"/>
                </a:solidFill>
                <a:latin typeface="Arial"/>
              </a:rPr>
              <a:t>fat jumps +0.17pp</a:t>
            </a:r>
            <a:r>
              <a:rPr sz="1700" b="0" i="0">
                <a:solidFill>
                  <a:srgbClr val="2A2A2A"/>
                </a:solidFill>
                <a:latin typeface="Arial"/>
              </a:rPr>
              <a:t> (p&lt;0.001); SNF also rises.</a:t>
            </a:r>
          </a:p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The </a:t>
            </a:r>
            <a:r>
              <a:rPr sz="1700" b="1" i="0">
                <a:solidFill>
                  <a:srgbClr val="EF463B"/>
                </a:solidFill>
                <a:latin typeface="Arial"/>
              </a:rPr>
              <a:t>threshold</a:t>
            </a:r>
            <a:r>
              <a:rPr sz="1700" b="0" i="0">
                <a:solidFill>
                  <a:srgbClr val="2A2A2A"/>
                </a:solidFill>
                <a:latin typeface="Arial"/>
              </a:rPr>
              <a:t>, not the continuous gradient, triggers costly quality sourcing — exactly the model’s extensive-margin prediction.</a:t>
            </a:r>
          </a:p>
          <a:p>
            <a:pPr algn="l" marL="274320" indent="-274320">
              <a:spcAft>
                <a:spcPts val="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Quality adjusts </a:t>
            </a:r>
            <a:r>
              <a:rPr sz="1700" b="1" i="0">
                <a:solidFill>
                  <a:srgbClr val="F7921E"/>
                </a:solidFill>
                <a:latin typeface="Arial"/>
              </a:rPr>
              <a:t>gradually</a:t>
            </a:r>
            <a:r>
              <a:rPr sz="1700" b="0" i="0">
                <a:solidFill>
                  <a:srgbClr val="2A2A2A"/>
                </a:solidFill>
                <a:latin typeface="Arial"/>
              </a:rPr>
              <a:t> (~1 week): re-sorting suppliers is costly and lumpy.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… but farmers are left out: the pass-through fails</a:t>
            </a:r>
          </a:p>
        </p:txBody>
      </p:sp>
      <p:pic>
        <p:nvPicPr>
          <p:cNvPr id="3" name="Picture 2" descr="fig_forest_farmer_ex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36210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800" b="0" i="0">
                <a:solidFill>
                  <a:srgbClr val="2A2A2A"/>
                </a:solidFill>
                <a:latin typeface="Arial"/>
              </a:rPr>
              <a:t>Farm-gate price </a:t>
            </a:r>
            <a:r>
              <a:rPr sz="1800" b="1" i="0">
                <a:solidFill>
                  <a:srgbClr val="EF463B"/>
                </a:solidFill>
                <a:latin typeface="Arial"/>
              </a:rPr>
              <a:t>falls</a:t>
            </a:r>
            <a:r>
              <a:rPr sz="1800" b="0" i="0">
                <a:solidFill>
                  <a:srgbClr val="2A2A2A"/>
                </a:solidFill>
                <a:latin typeface="Arial"/>
              </a:rPr>
              <a:t>: −17 UGX/litre to farmers selling to treated traders (p=0.02).</a:t>
            </a:r>
          </a:p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EF463B"/>
                </a:solidFill>
                <a:latin typeface="Arial"/>
              </a:rPr>
              <a:t>Negative</a:t>
            </a:r>
            <a:r>
              <a:rPr sz="1800" b="0" i="0">
                <a:solidFill>
                  <a:srgbClr val="2A2A2A"/>
                </a:solidFill>
                <a:latin typeface="Arial"/>
              </a:rPr>
              <a:t> pass-through — the opposite of what a price channel should deliver.</a:t>
            </a:r>
          </a:p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Quality-checking and feeding practices: </a:t>
            </a:r>
            <a:r>
              <a:rPr sz="1700" b="1" i="0">
                <a:solidFill>
                  <a:srgbClr val="6E6E6E"/>
                </a:solidFill>
                <a:latin typeface="Arial"/>
              </a:rPr>
              <a:t>essentially null</a:t>
            </a:r>
            <a:r>
              <a:rPr sz="1700" b="0" i="0">
                <a:solidFill>
                  <a:srgbClr val="2A2A2A"/>
                </a:solidFill>
                <a:latin typeface="Arial"/>
              </a:rPr>
              <a:t> (one marginal feeding index, fails multiple-testing correction).</a:t>
            </a:r>
          </a:p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700" b="0" i="0">
                <a:solidFill>
                  <a:srgbClr val="2A2A2A"/>
                </a:solidFill>
                <a:latin typeface="Arial"/>
              </a:rPr>
              <a:t>Trader </a:t>
            </a:r>
            <a:r>
              <a:rPr sz="1700" b="1" i="0">
                <a:solidFill>
                  <a:srgbClr val="2A2A2A"/>
                </a:solidFill>
                <a:latin typeface="Arial"/>
              </a:rPr>
              <a:t>endline survey</a:t>
            </a:r>
            <a:r>
              <a:rPr sz="1700" b="0" i="0">
                <a:solidFill>
                  <a:srgbClr val="2A2A2A"/>
                </a:solidFill>
                <a:latin typeface="Arial"/>
              </a:rPr>
              <a:t>: all null too — effects live in the daily panel, not the snapshot.</a:t>
            </a:r>
          </a:p>
          <a:p>
            <a:pPr algn="l">
              <a:spcAft>
                <a:spcPts val="0"/>
              </a:spcAft>
              <a:buNone/>
            </a:pPr>
            <a:r>
              <a:rPr sz="1800" b="1" i="0">
                <a:solidFill>
                  <a:srgbClr val="44546A"/>
                </a:solidFill>
                <a:latin typeface="Arial"/>
              </a:rPr>
              <a:t>Informed intermediaries </a:t>
            </a:r>
            <a:r>
              <a:rPr sz="1800" b="1" i="0">
                <a:solidFill>
                  <a:srgbClr val="EF463B"/>
                </a:solidFill>
                <a:latin typeface="Arial"/>
              </a:rPr>
              <a:t>capture the surplus</a:t>
            </a:r>
            <a:r>
              <a:rPr sz="1800" b="1" i="0">
                <a:solidFill>
                  <a:srgbClr val="44546A"/>
                </a:solidFill>
                <a:latin typeface="Arial"/>
              </a:rPr>
              <a:t>. The premium stops at the trader.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44546A"/>
                </a:solidFill>
                <a:latin typeface="Arial"/>
              </a:rPr>
              <a:t>Conclusion: necessary, but not sufficient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100" b="1" i="0">
                <a:solidFill>
                  <a:srgbClr val="44546A"/>
                </a:solidFill>
                <a:latin typeface="Arial"/>
              </a:rPr>
              <a:t>Observability is </a:t>
            </a:r>
            <a:r>
              <a:rPr sz="2100" b="1" i="0">
                <a:solidFill>
                  <a:srgbClr val="EF463B"/>
                </a:solidFill>
                <a:latin typeface="Arial"/>
              </a:rPr>
              <a:t>necessary but not sufficient</a:t>
            </a:r>
            <a:r>
              <a:rPr sz="2100" b="1" i="0">
                <a:solidFill>
                  <a:srgbClr val="44546A"/>
                </a:solidFill>
                <a:latin typeface="Arial"/>
              </a:rPr>
              <a:t> for a market for quality. Even when prices reward quality, </a:t>
            </a:r>
            <a:r>
              <a:rPr sz="2100" b="1" i="0">
                <a:solidFill>
                  <a:srgbClr val="44546A"/>
                </a:solidFill>
                <a:latin typeface="Arial"/>
              </a:rPr>
              <a:t>the structure of intermediation decides who captures the returns.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97280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62BA45"/>
                </a:solidFill>
                <a:latin typeface="Arial"/>
              </a:rPr>
              <a:t>Exp 1: </a:t>
            </a:r>
            <a:r>
              <a:rPr sz="1800" b="1" i="0">
                <a:solidFill>
                  <a:srgbClr val="2A2A2A"/>
                </a:solidFill>
                <a:latin typeface="Arial"/>
              </a:rPr>
              <a:t>measurement → enforcement</a:t>
            </a:r>
            <a:r>
              <a:rPr sz="1800" b="0" i="0">
                <a:solidFill>
                  <a:srgbClr val="2A2A2A"/>
                </a:solidFill>
                <a:latin typeface="Arial"/>
              </a:rPr>
              <a:t>. Quality rises (less adulteration), but no premium anywhere — processors buy flat per litre.</a:t>
            </a:r>
          </a:p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F7921E"/>
                </a:solidFill>
                <a:latin typeface="Arial"/>
              </a:rPr>
              <a:t>Exp 2: </a:t>
            </a:r>
            <a:r>
              <a:rPr sz="1800" b="1" i="0">
                <a:solidFill>
                  <a:srgbClr val="2A2A2A"/>
                </a:solidFill>
                <a:latin typeface="Arial"/>
              </a:rPr>
              <a:t>inject a premium → quality rises when the floor binds</a:t>
            </a:r>
            <a:r>
              <a:rPr sz="1800" b="0" i="0">
                <a:solidFill>
                  <a:srgbClr val="2A2A2A"/>
                </a:solidFill>
                <a:latin typeface="Arial"/>
              </a:rPr>
              <a:t>, but the surplus is retained by traders and farm-gate prices </a:t>
            </a:r>
            <a:r>
              <a:rPr sz="1800" b="1" i="0">
                <a:solidFill>
                  <a:srgbClr val="EF463B"/>
                </a:solidFill>
                <a:latin typeface="Arial"/>
              </a:rPr>
              <a:t>fall</a:t>
            </a:r>
            <a:r>
              <a:rPr sz="1800" b="0" i="0">
                <a:solidFill>
                  <a:srgbClr val="2A2A2A"/>
                </a:solidFill>
                <a:latin typeface="Arial"/>
              </a:rPr>
              <a:t>.</a:t>
            </a:r>
          </a:p>
          <a:p>
            <a:pPr algn="l" marL="274320" indent="-274320">
              <a:spcAft>
                <a:spcPts val="1200"/>
              </a:spcAft>
              <a:buFont typeface="Arial"/>
              <a:buChar char="•"/>
            </a:pPr>
            <a:r>
              <a:rPr sz="1800" b="1" i="0">
                <a:solidFill>
                  <a:srgbClr val="8850A0"/>
                </a:solidFill>
                <a:latin typeface="Arial"/>
              </a:rPr>
              <a:t>Thresholds beat gradients</a:t>
            </a:r>
            <a:r>
              <a:rPr sz="1800" b="0" i="0">
                <a:solidFill>
                  <a:srgbClr val="2A2A2A"/>
                </a:solidFill>
                <a:latin typeface="Arial"/>
              </a:rPr>
              <a:t>: discrete pass/fail signals move intermediaries facing lumpy adjustment costs; smooth gradients don’t.</a:t>
            </a:r>
          </a:p>
          <a:p>
            <a:pPr algn="l" marL="274320" indent="-274320">
              <a:spcAft>
                <a:spcPts val="0"/>
              </a:spcAft>
              <a:buFont typeface="Arial"/>
              <a:buChar char="•"/>
            </a:pPr>
            <a:r>
              <a:rPr sz="1800" b="1" i="0">
                <a:solidFill>
                  <a:srgbClr val="007DB3"/>
                </a:solidFill>
                <a:latin typeface="Arial"/>
              </a:rPr>
              <a:t>Policy: </a:t>
            </a:r>
            <a:r>
              <a:rPr sz="1800" b="0" i="0">
                <a:solidFill>
                  <a:srgbClr val="2A2A2A"/>
                </a:solidFill>
                <a:latin typeface="Arial"/>
              </a:rPr>
              <a:t>measurement + pricing are complementary, not substitutes. Partial fixes leave a low-quality trap intact; pass-through to farmers needs its own instrument.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FPRI 2017">
  <a:themeElements>
    <a:clrScheme name="IFPRI Color Palet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62BA45"/>
      </a:accent1>
      <a:accent2>
        <a:srgbClr val="00AE9A"/>
      </a:accent2>
      <a:accent3>
        <a:srgbClr val="EF463B"/>
      </a:accent3>
      <a:accent4>
        <a:srgbClr val="F7921E"/>
      </a:accent4>
      <a:accent5>
        <a:srgbClr val="8850A0"/>
      </a:accent5>
      <a:accent6>
        <a:srgbClr val="007DB3"/>
      </a:accent6>
      <a:hlink>
        <a:srgbClr val="3C5567"/>
      </a:hlink>
      <a:folHlink>
        <a:srgbClr val="95C94F"/>
      </a:folHlink>
    </a:clrScheme>
    <a:fontScheme name="IFPRI 2017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>
        <a:noAutofit/>
      </a:bodyPr>
      <a:lstStyle>
        <a:defPPr algn="r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47607E2-9F56-4D93-9D2E-509BABAC9FD4}" vid="{C0994118-7789-4055-9A1C-6E8FA38595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ubsets xmlns="cc614aa8-0f7f-444d-9b27-c2636ddf68e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8AD51B7D746DA45B6527FDAB3853DFE" ma:contentTypeVersion="10" ma:contentTypeDescription="Create a new document." ma:contentTypeScope="" ma:versionID="1d65bf579bd131ba3a6ac609394b2d19">
  <xsd:schema xmlns:xsd="http://www.w3.org/2001/XMLSchema" xmlns:xs="http://www.w3.org/2001/XMLSchema" xmlns:p="http://schemas.microsoft.com/office/2006/metadata/properties" xmlns:ns2="cc614aa8-0f7f-444d-9b27-c2636ddf68e4" xmlns:ns3="6ce60545-2e1d-4e38-85c2-f2c90414de02" targetNamespace="http://schemas.microsoft.com/office/2006/metadata/properties" ma:root="true" ma:fieldsID="35fd9e844ff22bf778ff608314fddc8a" ns2:_="" ns3:_="">
    <xsd:import namespace="cc614aa8-0f7f-444d-9b27-c2636ddf68e4"/>
    <xsd:import namespace="6ce60545-2e1d-4e38-85c2-f2c90414de02"/>
    <xsd:element name="properties">
      <xsd:complexType>
        <xsd:sequence>
          <xsd:element name="documentManagement">
            <xsd:complexType>
              <xsd:all>
                <xsd:element ref="ns2:Subsets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614aa8-0f7f-444d-9b27-c2636ddf68e4" elementFormDefault="qualified">
    <xsd:import namespace="http://schemas.microsoft.com/office/2006/documentManagement/types"/>
    <xsd:import namespace="http://schemas.microsoft.com/office/infopath/2007/PartnerControls"/>
    <xsd:element name="Subsets" ma:index="8" nillable="true" ma:displayName="Subsets" ma:internalName="Subsets" ma:readOnly="false">
      <xsd:simpleType>
        <xsd:restriction base="dms:Text">
          <xsd:maxLength value="255"/>
        </xsd:restriction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e60545-2e1d-4e38-85c2-f2c90414de02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16F6CA-B6CC-4273-8A4C-C64AAC5E3252}">
  <ds:schemaRefs>
    <ds:schemaRef ds:uri="http://schemas.microsoft.com/office/2006/metadata/properties"/>
    <ds:schemaRef ds:uri="http://schemas.microsoft.com/office/infopath/2007/PartnerControls"/>
    <ds:schemaRef ds:uri="cc614aa8-0f7f-444d-9b27-c2636ddf68e4"/>
  </ds:schemaRefs>
</ds:datastoreItem>
</file>

<file path=customXml/itemProps2.xml><?xml version="1.0" encoding="utf-8"?>
<ds:datastoreItem xmlns:ds="http://schemas.openxmlformats.org/officeDocument/2006/customXml" ds:itemID="{6F3554A7-4E97-4A05-8DC3-288154C7B68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63F2F80-6308-4622-A415-FCB67B4E30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c614aa8-0f7f-444d-9b27-c2636ddf68e4"/>
    <ds:schemaRef ds:uri="6ce60545-2e1d-4e38-85c2-f2c90414de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IFPRI 2017</Template>
  <TotalTime>1</TotalTime>
  <Words>52</Words>
  <Application>Microsoft Macintosh PowerPoint</Application>
  <PresentationFormat>Widescreen</PresentationFormat>
  <Paragraphs>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Courier New</vt:lpstr>
      <vt:lpstr>Wingdings</vt:lpstr>
      <vt:lpstr>IFPRI 2017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 Campenhout, Bjorn (IFPRI-Belgium)</dc:creator>
  <cp:lastModifiedBy>Van Campenhout, Bjorn (IFPRI-Belgium)</cp:lastModifiedBy>
  <cp:revision>1</cp:revision>
  <dcterms:created xsi:type="dcterms:W3CDTF">2026-06-09T13:45:22Z</dcterms:created>
  <dcterms:modified xsi:type="dcterms:W3CDTF">2026-06-09T13:46:43Z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0x01010068AD51B7D746DA45B6527FDAB3853DFE</vt:lpwstr>
  </property>
</Properties>
</file>